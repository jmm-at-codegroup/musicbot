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33"/>
  </p:notesMasterIdLst>
  <p:sldIdLst>
    <p:sldId id="258" r:id="rId2"/>
    <p:sldId id="2141411852" r:id="rId3"/>
    <p:sldId id="256" r:id="rId4"/>
    <p:sldId id="259" r:id="rId5"/>
    <p:sldId id="260" r:id="rId6"/>
    <p:sldId id="261" r:id="rId7"/>
    <p:sldId id="262" r:id="rId8"/>
    <p:sldId id="263" r:id="rId9"/>
    <p:sldId id="264" r:id="rId10"/>
    <p:sldId id="2141411853" r:id="rId11"/>
    <p:sldId id="265" r:id="rId12"/>
    <p:sldId id="266" r:id="rId13"/>
    <p:sldId id="267" r:id="rId14"/>
    <p:sldId id="268" r:id="rId15"/>
    <p:sldId id="269" r:id="rId16"/>
    <p:sldId id="270" r:id="rId17"/>
    <p:sldId id="275" r:id="rId18"/>
    <p:sldId id="276" r:id="rId19"/>
    <p:sldId id="277" r:id="rId20"/>
    <p:sldId id="278" r:id="rId21"/>
    <p:sldId id="279" r:id="rId22"/>
    <p:sldId id="280" r:id="rId23"/>
    <p:sldId id="281" r:id="rId24"/>
    <p:sldId id="282" r:id="rId25"/>
    <p:sldId id="288" r:id="rId26"/>
    <p:sldId id="2141411854" r:id="rId27"/>
    <p:sldId id="289" r:id="rId28"/>
    <p:sldId id="290" r:id="rId29"/>
    <p:sldId id="291" r:id="rId30"/>
    <p:sldId id="292" r:id="rId31"/>
    <p:sldId id="293"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63597" autoAdjust="0"/>
  </p:normalViewPr>
  <p:slideViewPr>
    <p:cSldViewPr snapToGrid="0" showGuides="1">
      <p:cViewPr varScale="1">
        <p:scale>
          <a:sx n="111" d="100"/>
          <a:sy n="111" d="100"/>
        </p:scale>
        <p:origin x="1844" y="72"/>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codemag.com/"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br>
              <a:rPr lang="en-US" dirty="0"/>
            </a:br>
            <a:r>
              <a:rPr lang="en-US" dirty="0"/>
              <a:t>OBS: Slides</a:t>
            </a:r>
            <a:br>
              <a:rPr lang="en-US" dirty="0"/>
            </a:br>
            <a:endParaRPr dirty="0"/>
          </a:p>
          <a:p>
            <a:r>
              <a:rPr dirty="0"/>
              <a:t>- Welcome the room</a:t>
            </a:r>
          </a:p>
          <a:p>
            <a:r>
              <a:rPr dirty="0"/>
              <a:t>- Frame today's topic: using AI to recover evidence, reduce uncertainty, make better decisions on inherited code</a:t>
            </a:r>
          </a:p>
          <a:p>
            <a:r>
              <a:rPr dirty="0"/>
              <a:t>- Ask: "think of one system you'd hesitate to touch today"</a:t>
            </a:r>
          </a:p>
          <a:p>
            <a:r>
              <a:rPr dirty="0"/>
              <a:t>- Promise: a repeatable way to turn that hesitation into a clear first move</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OBS: Slides</a:t>
            </a:r>
            <a:br>
              <a:rPr lang="en-US" dirty="0"/>
            </a:br>
            <a:endParaRPr lang="en-US" dirty="0"/>
          </a:p>
          <a:p>
            <a:r>
              <a:rPr lang="en-US" dirty="0"/>
              <a:t>CODE is a custom software company, a staff augmentation company, CODE Magazine for software developers, and training like this webinar. We've been in business for 30 years and the magazine just hit its 25th anniversary. Visit the website at </a:t>
            </a:r>
            <a:r>
              <a:rPr lang="en-US" dirty="0">
                <a:hlinkClick r:id="rId3"/>
              </a:rPr>
              <a:t>https://www.codemag.com/</a:t>
            </a:r>
            <a:r>
              <a:rPr lang="en-US" dirty="0"/>
              <a:t> for more details.</a:t>
            </a:r>
          </a:p>
        </p:txBody>
      </p:sp>
      <p:sp>
        <p:nvSpPr>
          <p:cNvPr id="4" name="Slide Number Placeholder 3"/>
          <p:cNvSpPr>
            <a:spLocks noGrp="1"/>
          </p:cNvSpPr>
          <p:nvPr>
            <p:ph type="sldNum" sz="quarter" idx="5"/>
          </p:nvPr>
        </p:nvSpPr>
        <p:spPr/>
        <p:txBody>
          <a:bodyPr/>
          <a:lstStyle/>
          <a:p>
            <a:fld id="{DA455780-D264-4D52-A390-D35F9E51885A}" type="slidenum">
              <a:rPr lang="en-US" smtClean="0"/>
              <a:t>2</a:t>
            </a:fld>
            <a:endParaRPr lang="en-US"/>
          </a:p>
        </p:txBody>
      </p:sp>
    </p:spTree>
    <p:extLst>
      <p:ext uri="{BB962C8B-B14F-4D97-AF65-F5344CB8AC3E}">
        <p14:creationId xmlns:p14="http://schemas.microsoft.com/office/powerpoint/2010/main" val="3071524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OBS: Slides</a:t>
            </a:r>
            <a:br>
              <a:rPr lang="en-US" dirty="0"/>
            </a:br>
            <a:endParaRPr lang="en-US" dirty="0"/>
          </a:p>
          <a:p>
            <a:r>
              <a:rPr dirty="0"/>
              <a:t>John Michael Miller is a Principal Software Engineer at CODE with over 15 years of experience in software development. He has held various roles including developer, architect, DevOps engineer, platform engineer, test architect, and release manager. John is an AI/ML enthusiast and advocates for effectively using AI to write code. You can connect with him on LinkedIn, reach out via email, or read his blog posts on AI-assisted software development.</a:t>
            </a:r>
          </a:p>
          <a:p>
            <a:endParaRPr dirty="0"/>
          </a:p>
          <a:p>
            <a:r>
              <a:rPr dirty="0"/>
              <a:t>- [AI Practitioner Resources](codemag.com/</a:t>
            </a:r>
            <a:r>
              <a:rPr dirty="0" err="1"/>
              <a:t>aipractitioner</a:t>
            </a:r>
            <a:r>
              <a:rPr dirty="0"/>
              <a:t>)</a:t>
            </a:r>
          </a:p>
          <a:p>
            <a:endParaRPr dirty="0"/>
          </a:p>
          <a:p>
            <a:r>
              <a:rPr dirty="0"/>
              <a:t>---</a:t>
            </a:r>
          </a:p>
          <a:p>
            <a:endParaRPr dirty="0"/>
          </a:p>
          <a:p>
            <a:r>
              <a:rPr dirty="0"/>
              <a:t>Source: slides\marp\instructors\jMM-Software-Archaeologist.deck.md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OBS: Slides and Camera</a:t>
            </a:r>
            <a:br>
              <a:rPr lang="en-US" dirty="0"/>
            </a:br>
            <a:endParaRPr lang="en-US" dirty="0"/>
          </a:p>
          <a:p>
            <a:r>
              <a:rPr dirty="0"/>
              <a:t>Duration ~00:03</a:t>
            </a:r>
          </a:p>
          <a:p>
            <a:endParaRPr dirty="0"/>
          </a:p>
          <a:p>
            <a:r>
              <a:rPr dirty="0"/>
              <a:t>- Frame a question before touching code</a:t>
            </a:r>
          </a:p>
          <a:p>
            <a:r>
              <a:rPr dirty="0"/>
              <a:t>- Pull evidence: source, tests, config, history, runtime</a:t>
            </a:r>
          </a:p>
          <a:p>
            <a:r>
              <a:rPr dirty="0"/>
              <a:t>- Map behavior, dependencies, risks, unknowns with AI</a:t>
            </a:r>
          </a:p>
          <a:p>
            <a:r>
              <a:rPr dirty="0"/>
              <a:t>- Verify — keep facts separate from guesses</a:t>
            </a:r>
          </a:p>
          <a:p>
            <a:r>
              <a:rPr dirty="0"/>
              <a:t>- Land on a prioritized, defensible backlog</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lang="en-US" dirty="0"/>
          </a:p>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OBS: Slides and Camera</a:t>
            </a:r>
            <a:br>
              <a:rPr lang="en-US" dirty="0"/>
            </a:br>
            <a:endParaRPr lang="en-US" dirty="0"/>
          </a:p>
          <a:p>
            <a:endParaRPr dirty="0"/>
          </a:p>
          <a:p>
            <a:r>
              <a:rPr dirty="0"/>
              <a:t>- Disciplined investigation of an inherited system</a:t>
            </a:r>
          </a:p>
          <a:p>
            <a:r>
              <a:rPr dirty="0"/>
              <a:t>- Recover: current behavior, shaping decisions, dependencies, missing evidence</a:t>
            </a:r>
          </a:p>
          <a:p>
            <a:r>
              <a:rPr dirty="0"/>
              <a:t>- Discipline: discovery before modification</a:t>
            </a:r>
          </a:p>
          <a:p>
            <a:r>
              <a:rPr dirty="0"/>
              <a:t>- Sequence: observe → corroborate → record → change</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lang="en-US" dirty="0"/>
          </a:p>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OBS: Slides and Camera</a:t>
            </a:r>
            <a:br>
              <a:rPr lang="en-US" dirty="0"/>
            </a:br>
            <a:endParaRPr lang="en-US" dirty="0"/>
          </a:p>
          <a:p>
            <a:r>
              <a:rPr dirty="0"/>
              <a:t>- Not reading every line — not even possible</a:t>
            </a:r>
          </a:p>
          <a:p>
            <a:r>
              <a:rPr dirty="0"/>
              <a:t>- Job = answer one specific change/risk/behavior question</a:t>
            </a:r>
          </a:p>
          <a:p>
            <a:r>
              <a:rPr dirty="0"/>
              <a:t>- Separate: what it does vs. what we infer vs. what's unknown</a:t>
            </a:r>
          </a:p>
          <a:p>
            <a:r>
              <a:rPr dirty="0"/>
              <a:t>- Stop when the next decision is safe enough</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OBS: Slides and Camera</a:t>
            </a:r>
            <a:br>
              <a:rPr lang="en-US" dirty="0"/>
            </a:br>
            <a:endParaRPr lang="en-US" dirty="0"/>
          </a:p>
          <a:p>
            <a:r>
              <a:rPr dirty="0"/>
              <a:t>- Production carries years of undocumented decisions and workarounds</a:t>
            </a:r>
          </a:p>
          <a:p>
            <a:r>
              <a:rPr dirty="0"/>
              <a:t>- Delivery pressure pushes changes before understanding</a:t>
            </a:r>
          </a:p>
          <a:p>
            <a:r>
              <a:rPr dirty="0"/>
              <a:t>- AI searches/connects evidence fast — but can also fabricate a plausible story</a:t>
            </a:r>
          </a:p>
          <a:p>
            <a:r>
              <a:rPr dirty="0"/>
              <a:t>- Reframe the promise: better evidence, not skipped verification</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OBS: Slides and Camera</a:t>
            </a:r>
            <a:br>
              <a:rPr lang="en-US" dirty="0"/>
            </a:br>
            <a:endParaRPr lang="en-US" dirty="0"/>
          </a:p>
          <a:p>
            <a:r>
              <a:rPr dirty="0"/>
              <a:t>- Custom agent for unfamiliar/legacy code — not a rewrite tool</a:t>
            </a:r>
          </a:p>
          <a:p>
            <a:r>
              <a:rPr dirty="0"/>
              <a:t>- Every investigation: question, boundary, stop condition</a:t>
            </a:r>
          </a:p>
          <a:p>
            <a:r>
              <a:rPr dirty="0"/>
              <a:t>- Returns cited findings, not an open-ended essay</a:t>
            </a:r>
          </a:p>
          <a:p>
            <a:r>
              <a:rPr dirty="0"/>
              <a:t>- Maps entry points, behavior, dependencies, data, ops context</a:t>
            </a:r>
          </a:p>
          <a:p>
            <a:r>
              <a:rPr dirty="0"/>
              <a:t>- Mines history, corroborates against tests/config/runtime</a:t>
            </a:r>
          </a:p>
          <a:p>
            <a:r>
              <a:rPr dirty="0"/>
              <a:t>- Labels every claim: fact / inference / open question</a:t>
            </a:r>
          </a:p>
          <a:p>
            <a:r>
              <a:rPr dirty="0"/>
              <a:t>- Won't touch code unless separately asked to implement</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OBS: Slides and Camera</a:t>
            </a:r>
            <a:br>
              <a:rPr lang="en-US" dirty="0"/>
            </a:br>
            <a:endParaRPr lang="en-US" dirty="0"/>
          </a:p>
          <a:p>
            <a:r>
              <a:rPr dirty="0"/>
              <a:t>- Habit 1 — work from evidence: read first, cite paths/symbols, prefer small verified wins</a:t>
            </a:r>
          </a:p>
          <a:p>
            <a:r>
              <a:rPr dirty="0"/>
              <a:t>- Habit 2 — preserve uncertainty: label claims, ask what would disprove the theory</a:t>
            </a:r>
          </a:p>
          <a:p>
            <a:r>
              <a:rPr dirty="0"/>
              <a:t>- Keep steps small and reversible</a:t>
            </a:r>
          </a:p>
          <a:p>
            <a:r>
              <a:rPr dirty="0"/>
              <a:t>- Escalate domain questions to the actual owners</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OBS: VS Code Demo</a:t>
            </a:r>
          </a:p>
          <a:p>
            <a:endParaRPr lang="en-US" dirty="0"/>
          </a:p>
          <a:p>
            <a:pPr marL="285750" lvl="0" indent="-285750">
              <a:buFont typeface="Arial" panose="020B0604020202020204" pitchFamily="34" charset="0"/>
              <a:buChar char="•"/>
            </a:pPr>
            <a:r>
              <a:rPr lang="en-US" dirty="0">
                <a:effectLst/>
              </a:rPr>
              <a:t>Introduces a specialized </a:t>
            </a:r>
            <a:r>
              <a:rPr lang="en-US" b="1" dirty="0">
                <a:effectLst/>
              </a:rPr>
              <a:t>Software Archeologist</a:t>
            </a:r>
            <a:r>
              <a:rPr lang="en-US" dirty="0">
                <a:effectLst/>
              </a:rPr>
              <a:t> agent.</a:t>
            </a:r>
          </a:p>
          <a:p>
            <a:pPr marL="285750" lvl="0" indent="-285750">
              <a:buFont typeface="Arial" panose="020B0604020202020204" pitchFamily="34" charset="0"/>
              <a:buChar char="•"/>
            </a:pPr>
            <a:r>
              <a:rPr lang="en-US" dirty="0">
                <a:effectLst/>
              </a:rPr>
              <a:t>Investigates unfamiliar or legacy code before changes are made.</a:t>
            </a:r>
          </a:p>
          <a:p>
            <a:pPr marL="285750" lvl="0" indent="-285750">
              <a:buFont typeface="Arial" panose="020B0604020202020204" pitchFamily="34" charset="0"/>
              <a:buChar char="•"/>
            </a:pPr>
            <a:r>
              <a:rPr lang="en-US" dirty="0">
                <a:effectLst/>
              </a:rPr>
              <a:t>Reconstructs code history, intent, dependencies, and hidden risks.</a:t>
            </a:r>
          </a:p>
          <a:p>
            <a:pPr marL="285750" lvl="0" indent="-285750">
              <a:buFont typeface="Arial" panose="020B0604020202020204" pitchFamily="34" charset="0"/>
              <a:buChar char="•"/>
            </a:pPr>
            <a:r>
              <a:rPr lang="en-US" dirty="0">
                <a:effectLst/>
              </a:rPr>
              <a:t>Uses commands such as </a:t>
            </a:r>
            <a:r>
              <a:rPr lang="en-US" sz="1600" kern="1200" dirty="0">
                <a:solidFill>
                  <a:schemeClr val="tx1"/>
                </a:solidFill>
                <a:effectLst/>
                <a:latin typeface="+mn-lt"/>
                <a:ea typeface="+mn-ea"/>
                <a:cs typeface="+mn-cs"/>
              </a:rPr>
              <a:t>@excavate</a:t>
            </a:r>
            <a:r>
              <a:rPr lang="en-US" dirty="0">
                <a:effectLst/>
              </a:rPr>
              <a:t>, </a:t>
            </a:r>
            <a:r>
              <a:rPr lang="en-US" sz="1600" kern="1200" dirty="0">
                <a:solidFill>
                  <a:schemeClr val="tx1"/>
                </a:solidFill>
                <a:effectLst/>
                <a:latin typeface="+mn-lt"/>
                <a:ea typeface="+mn-ea"/>
                <a:cs typeface="+mn-cs"/>
              </a:rPr>
              <a:t>@date-strata</a:t>
            </a:r>
            <a:r>
              <a:rPr lang="en-US" dirty="0">
                <a:effectLst/>
              </a:rPr>
              <a:t>, and </a:t>
            </a:r>
            <a:r>
              <a:rPr lang="en-US" sz="1600" kern="1200" dirty="0">
                <a:solidFill>
                  <a:schemeClr val="tx1"/>
                </a:solidFill>
                <a:effectLst/>
                <a:latin typeface="+mn-lt"/>
                <a:ea typeface="+mn-ea"/>
                <a:cs typeface="+mn-cs"/>
              </a:rPr>
              <a:t>@risk-map</a:t>
            </a:r>
            <a:r>
              <a:rPr lang="en-US" dirty="0">
                <a:effectLst/>
              </a:rPr>
              <a:t>.</a:t>
            </a:r>
          </a:p>
          <a:p>
            <a:pPr marL="285750" lvl="0" indent="-285750">
              <a:buFont typeface="Arial" panose="020B0604020202020204" pitchFamily="34" charset="0"/>
              <a:buChar char="•"/>
            </a:pPr>
            <a:r>
              <a:rPr lang="en-US" dirty="0">
                <a:effectLst/>
              </a:rPr>
              <a:t>Requires every investigation to define a clear boundary and stop condition.</a:t>
            </a:r>
          </a:p>
          <a:p>
            <a:pPr marL="285750" lvl="0" indent="-285750">
              <a:buFont typeface="Arial" panose="020B0604020202020204" pitchFamily="34" charset="0"/>
              <a:buChar char="•"/>
            </a:pPr>
            <a:r>
              <a:rPr lang="en-US" dirty="0">
                <a:effectLst/>
              </a:rPr>
              <a:t>Separates facts, inferences, and open questions.</a:t>
            </a:r>
          </a:p>
          <a:p>
            <a:pPr marL="285750" lvl="0" indent="-285750">
              <a:buFont typeface="Arial" panose="020B0604020202020204" pitchFamily="34" charset="0"/>
              <a:buChar char="•"/>
            </a:pPr>
            <a:r>
              <a:rPr lang="en-US" dirty="0">
                <a:effectLst/>
              </a:rPr>
              <a:t>Produces an evidence ledger and fragility assessment.</a:t>
            </a:r>
          </a:p>
          <a:p>
            <a:pPr marL="285750" lvl="0" indent="-285750">
              <a:buFont typeface="Arial" panose="020B0604020202020204" pitchFamily="34" charset="0"/>
              <a:buChar char="•"/>
            </a:pPr>
            <a:r>
              <a:rPr lang="en-US" dirty="0">
                <a:effectLst/>
              </a:rPr>
              <a:t>Remains non-destructive: it recommends changes but does not modify code.</a:t>
            </a:r>
          </a:p>
          <a:p>
            <a:pPr marL="285750" lvl="0" indent="-285750">
              <a:buFont typeface="Arial" panose="020B0604020202020204" pitchFamily="34" charset="0"/>
              <a:buChar char="•"/>
            </a:pPr>
            <a:r>
              <a:rPr lang="en-US" dirty="0">
                <a:effectLst/>
              </a:rPr>
              <a:t>Demonstrate with </a:t>
            </a:r>
            <a:r>
              <a:rPr lang="en-US" sz="1600" kern="1200" dirty="0">
                <a:solidFill>
                  <a:schemeClr val="tx1"/>
                </a:solidFill>
                <a:effectLst/>
                <a:latin typeface="+mn-lt"/>
                <a:ea typeface="+mn-ea"/>
                <a:cs typeface="+mn-cs"/>
              </a:rPr>
              <a:t>@excavate</a:t>
            </a:r>
            <a:r>
              <a:rPr lang="en-US" dirty="0">
                <a:effectLst/>
              </a:rPr>
              <a:t> on a module such as </a:t>
            </a:r>
            <a:r>
              <a:rPr lang="en-US" sz="1600" kern="1200" dirty="0">
                <a:solidFill>
                  <a:schemeClr val="tx1"/>
                </a:solidFill>
                <a:effectLst/>
                <a:latin typeface="+mn-lt"/>
                <a:ea typeface="+mn-ea"/>
                <a:cs typeface="+mn-cs"/>
              </a:rPr>
              <a:t>stream.py</a:t>
            </a:r>
            <a:r>
              <a:rPr lang="en-US" dirty="0">
                <a:effectLst/>
              </a:rPr>
              <a:t>.</a:t>
            </a:r>
          </a:p>
          <a:p>
            <a:pPr marL="285750" lvl="0" indent="-285750">
              <a:buFont typeface="Arial" panose="020B0604020202020204" pitchFamily="34" charset="0"/>
              <a:buChar char="•"/>
            </a:pPr>
            <a:r>
              <a:rPr lang="en-US" dirty="0">
                <a:effectLst/>
              </a:rPr>
              <a:t>Emphasize the outcome: safer decisions backed by repository evidence.</a:t>
            </a:r>
          </a:p>
          <a:p>
            <a:endParaRPr lang="en-US" dirty="0"/>
          </a:p>
        </p:txBody>
      </p:sp>
      <p:sp>
        <p:nvSpPr>
          <p:cNvPr id="4" name="Slide Number Placeholder 3"/>
          <p:cNvSpPr>
            <a:spLocks noGrp="1"/>
          </p:cNvSpPr>
          <p:nvPr>
            <p:ph type="sldNum" sz="quarter" idx="5"/>
          </p:nvPr>
        </p:nvSpPr>
        <p:spPr/>
        <p:txBody>
          <a:bodyPr/>
          <a:lstStyle/>
          <a:p>
            <a:fld id="{8D31DA66-BB00-F84C-BB6F-3E6E140CFF70}" type="slidenum">
              <a:rPr lang="en-US" smtClean="0"/>
              <a:t>10</a:t>
            </a:fld>
            <a:endParaRPr lang="en-US"/>
          </a:p>
        </p:txBody>
      </p:sp>
    </p:spTree>
    <p:extLst>
      <p:ext uri="{BB962C8B-B14F-4D97-AF65-F5344CB8AC3E}">
        <p14:creationId xmlns:p14="http://schemas.microsoft.com/office/powerpoint/2010/main" val="416000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lang="en-US" dirty="0"/>
              <a:t>OBS: Slides and Camera</a:t>
            </a:r>
          </a:p>
          <a:p>
            <a:endParaRPr lang="en-US" dirty="0"/>
          </a:p>
          <a:p>
            <a:r>
              <a:rPr dirty="0"/>
              <a:t>- Frame question → collect evidence → map behavior/dependencies</a:t>
            </a:r>
          </a:p>
          <a:p>
            <a:r>
              <a:rPr dirty="0"/>
              <a:t>- Verify or revise → record risks/unknowns → shape next step</a:t>
            </a:r>
          </a:p>
          <a:p>
            <a:r>
              <a:rPr dirty="0"/>
              <a:t>- Loop repeats</a:t>
            </a:r>
          </a:p>
          <a:p>
            <a:r>
              <a:rPr dirty="0"/>
              <a:t>- AI = collection + synthesis; people = validation + tradeoffs</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lang="en-US" dirty="0"/>
              <a:t>OBS: Slides and Camera</a:t>
            </a:r>
          </a:p>
          <a:p>
            <a:endParaRPr lang="en-US" dirty="0"/>
          </a:p>
          <a:p>
            <a:r>
              <a:rPr dirty="0"/>
              <a:t>- Find entry points, runnable projects, public interfaces</a:t>
            </a:r>
          </a:p>
          <a:p>
            <a:r>
              <a:rPr dirty="0"/>
              <a:t>- Inventory ownership clues: folders, READMEs, manifests, runbooks</a:t>
            </a:r>
          </a:p>
          <a:p>
            <a:r>
              <a:rPr dirty="0"/>
              <a:t>- Pick the smallest plausible boundary</a:t>
            </a:r>
          </a:p>
          <a:p>
            <a:r>
              <a:rPr dirty="0"/>
              <a:t>- Ask AI for an evidence-indexed map — not a generic summary</a:t>
            </a:r>
          </a:p>
          <a:p>
            <a:r>
              <a:rPr dirty="0"/>
              <a:t>- Point out: prompt demands citations + unknowns</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lang="en-US" dirty="0"/>
              <a:t>OBS: Slides and Camera</a:t>
            </a:r>
          </a:p>
          <a:p>
            <a:endParaRPr lang="en-US" dirty="0"/>
          </a:p>
          <a:p>
            <a:r>
              <a:rPr dirty="0"/>
              <a:t>- Start at a user action: route, message, job, command</a:t>
            </a:r>
          </a:p>
          <a:p>
            <a:r>
              <a:rPr dirty="0"/>
              <a:t>- Follow to state changes, external effects, error handling</a:t>
            </a:r>
          </a:p>
          <a:p>
            <a:r>
              <a:rPr dirty="0"/>
              <a:t>- Read nearby tests — they define the observable contract</a:t>
            </a:r>
          </a:p>
          <a:p>
            <a:r>
              <a:rPr dirty="0"/>
              <a:t>- Record branch conditions and side effects (that's where business rules hide)</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lang="en-US" dirty="0"/>
              <a:t>OBS: Slides and Camera</a:t>
            </a:r>
          </a:p>
          <a:p>
            <a:endParaRPr lang="en-US" dirty="0"/>
          </a:p>
          <a:p>
            <a:r>
              <a:rPr dirty="0"/>
              <a:t>- Trace inbound callers and outbound services/queues/files/DBs</a:t>
            </a:r>
          </a:p>
          <a:p>
            <a:r>
              <a:rPr dirty="0"/>
              <a:t>- Find schemas, persistence boundaries, feature flags, config switches</a:t>
            </a:r>
          </a:p>
          <a:p>
            <a:r>
              <a:rPr dirty="0"/>
              <a:t>- Distinguish compile-time reference vs. runtime dependency</a:t>
            </a:r>
          </a:p>
          <a:p>
            <a:r>
              <a:rPr dirty="0"/>
              <a:t>- Watch for shared tables, implicit contracts, one-way migrations</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lang="en-US" dirty="0"/>
              <a:t>OBS: Slides and Camera</a:t>
            </a:r>
          </a:p>
          <a:p>
            <a:endParaRPr lang="en-US" dirty="0"/>
          </a:p>
          <a:p>
            <a:r>
              <a:rPr dirty="0"/>
              <a:t>- Use commits, issues, release notes, migrations to recover "why"</a:t>
            </a:r>
          </a:p>
          <a:p>
            <a:r>
              <a:rPr dirty="0"/>
              <a:t>- Compare code assumptions against dashboards, alerts, traces, incidents</a:t>
            </a:r>
          </a:p>
          <a:p>
            <a:r>
              <a:rPr dirty="0"/>
              <a:t>- Treat comments as clues, not proof</a:t>
            </a:r>
          </a:p>
          <a:p>
            <a:r>
              <a:rPr dirty="0"/>
              <a:t>- Look for decisions that were rational once, maybe not now</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r>
              <a:rPr lang="en-US" dirty="0"/>
              <a:t>OBS: Slides and Camera</a:t>
            </a:r>
          </a:p>
          <a:p>
            <a:endParaRPr lang="en-US" dirty="0"/>
          </a:p>
          <a:p>
            <a:r>
              <a:rPr dirty="0"/>
              <a:t>- AI's job: find entry points, summarize bounded chains, compare tests vs. implementation, surface candidate risks/questions</a:t>
            </a:r>
          </a:p>
          <a:p>
            <a:r>
              <a:rPr dirty="0"/>
              <a:t>- Our job: confirm claims, resolve domain intent, decide scope/sequencing, approve changes</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lang="en-US" dirty="0"/>
              <a:t>OBS: Slides and Camera</a:t>
            </a:r>
          </a:p>
          <a:p>
            <a:endParaRPr lang="en-US" dirty="0"/>
          </a:p>
          <a:p>
            <a:r>
              <a:rPr dirty="0"/>
              <a:t>Every investigation leaves a ledger: claim, evidence, confidence, and next check. The format does not matter; markdown, an issue comment, or a PR description can all work. The purpose is to make the evidence durable so someone else can challenge or extend it without starting over. Confidence is evidence quality, not personal certainty.</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r>
              <a:rPr lang="en-US" dirty="0"/>
              <a:t>OBS: Slides and Camera</a:t>
            </a:r>
          </a:p>
          <a:p>
            <a:endParaRPr lang="en-US" dirty="0"/>
          </a:p>
          <a:p>
            <a:r>
              <a:rPr dirty="0"/>
              <a:t>- Every investigation leaves a ledger: claim, evidence, confidence, next check</a:t>
            </a:r>
          </a:p>
          <a:p>
            <a:r>
              <a:rPr dirty="0"/>
              <a:t>- Format doesn't matter — markdown file, issue comment, PR description</a:t>
            </a:r>
          </a:p>
          <a:p>
            <a:r>
              <a:rPr dirty="0"/>
              <a:t>- Purpose: someone else can pick it up without starting over</a:t>
            </a:r>
          </a:p>
          <a:p>
            <a:r>
              <a:rPr dirty="0"/>
              <a:t>- Confidence = evidence quality, not personal certainty</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r>
              <a:rPr lang="en-US" dirty="0"/>
              <a:t>OBS: Slides and Camera</a:t>
            </a:r>
          </a:p>
          <a:p>
            <a:endParaRPr lang="en-US" dirty="0"/>
          </a:p>
          <a:p>
            <a:r>
              <a:rPr dirty="0"/>
              <a:t>- Behavior risk — user-visible outcome changes unexpectedly</a:t>
            </a:r>
          </a:p>
          <a:p>
            <a:r>
              <a:rPr dirty="0"/>
              <a:t>- Contract risk — another system depends on undocumented shape/timing</a:t>
            </a:r>
          </a:p>
          <a:p>
            <a:r>
              <a:rPr dirty="0"/>
              <a:t>- Operational risk — rollback/monitoring/ownership gap</a:t>
            </a:r>
          </a:p>
          <a:p>
            <a:r>
              <a:rPr dirty="0"/>
              <a:t>- Delivery risk — change too big to verify safely</a:t>
            </a:r>
          </a:p>
          <a:p>
            <a:r>
              <a:rPr dirty="0"/>
              <a:t>- Template: "Changing X could affect Y, because Z evidence shows...</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r>
              <a:rPr lang="en-US" dirty="0"/>
              <a:t>OBS: Slides and Camera</a:t>
            </a:r>
          </a:p>
          <a:p>
            <a:endParaRPr lang="en-US" dirty="0"/>
          </a:p>
          <a:p>
            <a:r>
              <a:rPr dirty="0"/>
              <a:t>- Add a characterization test around valuable behavior</a:t>
            </a:r>
          </a:p>
          <a:p>
            <a:r>
              <a:rPr dirty="0"/>
              <a:t>- Make a hidden contract explicit</a:t>
            </a:r>
          </a:p>
          <a:p>
            <a:r>
              <a:rPr dirty="0"/>
              <a:t>- Add telemetry before touching an uncertain path</a:t>
            </a:r>
          </a:p>
          <a:p>
            <a:r>
              <a:rPr dirty="0"/>
              <a:t>- Isolate a dependency behind a stable interface</a:t>
            </a:r>
          </a:p>
          <a:p>
            <a:r>
              <a:rPr dirty="0"/>
              <a:t>- Retire a flag once usage is validated</a:t>
            </a:r>
          </a:p>
          <a:p>
            <a:r>
              <a:rPr dirty="0"/>
              <a:t>- Good candidate = small to verify, reversible, valuable</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lang="en-US" dirty="0"/>
              <a:t>OBS: Slides and Camera</a:t>
            </a:r>
          </a:p>
          <a:p>
            <a:endParaRPr lang="en-US" dirty="0"/>
          </a:p>
          <a:p>
            <a:r>
              <a:rPr dirty="0"/>
              <a:t>- Columns: value, risk reduced, evidence confidence, first move</a:t>
            </a:r>
          </a:p>
          <a:p>
            <a:r>
              <a:rPr dirty="0"/>
              <a:t>- Call out row 3: high value but low confidence → investigation item, not a commitment</a:t>
            </a:r>
          </a:p>
          <a:p>
            <a:r>
              <a:rPr dirty="0"/>
              <a:t>- Rule: prioritize risk reduction/learning before big replacement work</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r>
              <a:rPr lang="en-US" dirty="0"/>
              <a:t>OBS: Slides and Camera</a:t>
            </a:r>
          </a:p>
          <a:p>
            <a:endParaRPr lang="en-US" dirty="0"/>
          </a:p>
          <a:p>
            <a:r>
              <a:rPr dirty="0"/>
              <a:t>- Keep changes small enough to review against the evidence</a:t>
            </a:r>
          </a:p>
          <a:p>
            <a:r>
              <a:rPr dirty="0"/>
              <a:t>- Preserve behavior unless the decision says otherwise</a:t>
            </a:r>
          </a:p>
          <a:p>
            <a:r>
              <a:rPr dirty="0"/>
              <a:t>- Add tests/telemetry/flags before high-uncertainty changes</a:t>
            </a:r>
          </a:p>
          <a:p>
            <a:r>
              <a:rPr dirty="0"/>
              <a:t>- Keep recording findings in the same trail</a:t>
            </a:r>
          </a:p>
          <a:p>
            <a:r>
              <a:rPr dirty="0"/>
              <a:t>- Every completed item = a better map for next time</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r>
              <a:rPr lang="en-US" dirty="0"/>
              <a:t>OBS: Slides and Camera</a:t>
            </a:r>
          </a:p>
          <a:p>
            <a:endParaRPr lang="en-US" dirty="0"/>
          </a:p>
          <a:p>
            <a:r>
              <a:rPr dirty="0"/>
              <a:t>- Fork of a GitHub repo, Python, picked essentially at random</a:t>
            </a:r>
          </a:p>
          <a:p>
            <a:r>
              <a:rPr dirty="0"/>
              <a:t>- Treat it as: an unknown codebase we've been asked to improve</a:t>
            </a:r>
          </a:p>
          <a:p>
            <a:r>
              <a:rPr dirty="0"/>
              <a:t>- Our job: recover enough evidence to pick one safe next step</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lang="en-US" dirty="0"/>
              <a:t>OBS: Slides and Camera</a:t>
            </a:r>
          </a:p>
          <a:p>
            <a:endParaRPr lang="en-US" dirty="0"/>
          </a:p>
          <a:p>
            <a:r>
              <a:rPr dirty="0"/>
              <a:t>- Not here to show off a clever AI answer</a:t>
            </a:r>
          </a:p>
          <a:p>
            <a:r>
              <a:rPr dirty="0"/>
              <a:t>- Modeling a repeatable process</a:t>
            </a:r>
          </a:p>
          <a:p>
            <a:r>
              <a:rPr dirty="0"/>
              <a:t>- Watch for: evidence, uncertainty, decision points — not every keystroke</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lang="en-US" dirty="0"/>
              <a:t>OBS: Slides and Camera</a:t>
            </a:r>
          </a:p>
          <a:p>
            <a:endParaRPr lang="en-US" dirty="0"/>
          </a:p>
          <a:p>
            <a:r>
              <a:rPr dirty="0"/>
              <a:t>- Question: what could break if we change this workflow</a:t>
            </a:r>
          </a:p>
          <a:p>
            <a:r>
              <a:rPr dirty="0"/>
              <a:t>- Boundary: entry point → handler → streaming handoff</a:t>
            </a:r>
          </a:p>
          <a:p>
            <a:r>
              <a:rPr dirty="0"/>
              <a:t>- Stop condition: enough evidence for one safe, high-value first item</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25CDC-4461-24A2-C4FA-2121BFD2A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E994C-2EDB-51D6-62B9-8B3C2439D4D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EA2EEA-8CEE-CB32-0178-A2E963F07928}"/>
              </a:ext>
            </a:extLst>
          </p:cNvPr>
          <p:cNvSpPr>
            <a:spLocks noGrp="1"/>
          </p:cNvSpPr>
          <p:nvPr>
            <p:ph type="body" sz="quarter" idx="3"/>
          </p:nvPr>
        </p:nvSpPr>
        <p:spPr/>
        <p:txBody>
          <a:bodyPr/>
          <a:lstStyle/>
          <a:p>
            <a:r>
              <a:rPr dirty="0"/>
              <a:t>Duration ~00:03</a:t>
            </a:r>
          </a:p>
          <a:p>
            <a:endParaRPr dirty="0"/>
          </a:p>
          <a:p>
            <a:r>
              <a:rPr lang="en-US" dirty="0"/>
              <a:t>OBS: Slides and Camera</a:t>
            </a:r>
          </a:p>
          <a:p>
            <a:endParaRPr lang="en-US" dirty="0"/>
          </a:p>
          <a:p>
            <a:r>
              <a:rPr dirty="0"/>
              <a:t>- Question: what could break if we change this workflow</a:t>
            </a:r>
          </a:p>
          <a:p>
            <a:r>
              <a:rPr dirty="0"/>
              <a:t>- Boundary: entry point → handler → streaming handoff</a:t>
            </a:r>
          </a:p>
          <a:p>
            <a:r>
              <a:rPr dirty="0"/>
              <a:t>- Stop condition: enough evidence for one safe, high-value first item</a:t>
            </a:r>
          </a:p>
          <a:p>
            <a:endParaRPr dirty="0"/>
          </a:p>
          <a:p>
            <a:r>
              <a:rPr dirty="0"/>
              <a:t>---</a:t>
            </a:r>
          </a:p>
          <a:p>
            <a:endParaRPr dirty="0"/>
          </a:p>
          <a:p>
            <a:r>
              <a:rPr dirty="0"/>
              <a:t>Source: slides\marp\software-archaeology-with-ai.deck.md</a:t>
            </a:r>
          </a:p>
        </p:txBody>
      </p:sp>
      <p:sp>
        <p:nvSpPr>
          <p:cNvPr id="4" name="Slide Number Placeholder 3">
            <a:extLst>
              <a:ext uri="{FF2B5EF4-FFF2-40B4-BE49-F238E27FC236}">
                <a16:creationId xmlns:a16="http://schemas.microsoft.com/office/drawing/2014/main" id="{C77D0C14-F4E5-1C25-0D2F-FB1BAEC9A6F4}"/>
              </a:ext>
            </a:extLst>
          </p:cNvPr>
          <p:cNvSpPr>
            <a:spLocks noGrp="1"/>
          </p:cNvSpPr>
          <p:nvPr>
            <p:ph type="sldNum" sz="quarter" idx="5"/>
          </p:nvPr>
        </p:nvSpPr>
        <p:spPr/>
      </p:sp>
    </p:spTree>
    <p:extLst>
      <p:ext uri="{BB962C8B-B14F-4D97-AF65-F5344CB8AC3E}">
        <p14:creationId xmlns:p14="http://schemas.microsoft.com/office/powerpoint/2010/main" val="2562019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lang="en-US" dirty="0"/>
              <a:t>OBS: Slides and Camera</a:t>
            </a:r>
          </a:p>
          <a:p>
            <a:endParaRPr lang="en-US" dirty="0"/>
          </a:p>
          <a:p>
            <a:r>
              <a:rPr dirty="0"/>
              <a:t>- Find entry point and handler</a:t>
            </a:r>
          </a:p>
          <a:p>
            <a:r>
              <a:rPr dirty="0"/>
              <a:t>- Find nearby tests/config/domain terms</a:t>
            </a:r>
          </a:p>
          <a:p>
            <a:r>
              <a:rPr dirty="0"/>
              <a:t>- Run @excavate with the boundary and stop condition shown, asking for cited facts, hypotheses, unknowns, and next files</a:t>
            </a:r>
          </a:p>
          <a:p>
            <a:r>
              <a:rPr dirty="0"/>
              <a:t>- Verify highest-impact claims in source myself</a:t>
            </a:r>
          </a:p>
          <a:p>
            <a:endParaRPr dirty="0"/>
          </a:p>
          <a:p>
            <a:r>
              <a:rPr lang="en-US" dirty="0"/>
              <a:t>OBS: VS Code Demo</a:t>
            </a:r>
          </a:p>
          <a:p>
            <a:endParaRPr lang="en-US" dirty="0"/>
          </a:p>
          <a:p>
            <a:r>
              <a:rPr dirty="0"/>
              <a:t>---</a:t>
            </a:r>
          </a:p>
          <a:p>
            <a:endParaRPr dirty="0"/>
          </a:p>
          <a:p>
            <a:r>
              <a:rPr dirty="0"/>
              <a:t>Source: slides\marp\software-archaeology-with-ai.deck.md</a:t>
            </a:r>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lang="en-US" dirty="0"/>
              <a:t>OBS: Slides and Camera</a:t>
            </a:r>
          </a:p>
          <a:p>
            <a:endParaRPr lang="en-US" dirty="0"/>
          </a:p>
          <a:p>
            <a:r>
              <a:rPr dirty="0"/>
              <a:t>- Follow success/failure/retry/cancellation</a:t>
            </a:r>
          </a:p>
          <a:p>
            <a:r>
              <a:rPr dirty="0"/>
              <a:t>- Identify data writes, emitted events, external calls</a:t>
            </a:r>
          </a:p>
          <a:p>
            <a:r>
              <a:rPr dirty="0"/>
              <a:t>- Run the corroboration prompt shown, comparing against tests/config</a:t>
            </a:r>
          </a:p>
          <a:p>
            <a:r>
              <a:rPr dirty="0"/>
              <a:t>- Write down contradictions instead of forcing a tidy story</a:t>
            </a:r>
          </a:p>
          <a:p>
            <a:endParaRPr dirty="0"/>
          </a:p>
          <a:p>
            <a:r>
              <a:rPr lang="en-US" dirty="0"/>
              <a:t>OBS: VS Code Demo</a:t>
            </a:r>
          </a:p>
          <a:p>
            <a:endParaRPr lang="en-US"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~00:05</a:t>
            </a:r>
          </a:p>
          <a:p>
            <a:endParaRPr dirty="0"/>
          </a:p>
          <a:p>
            <a:r>
              <a:rPr lang="en-US" dirty="0"/>
              <a:t>OBS: Slides and Camera</a:t>
            </a:r>
          </a:p>
          <a:p>
            <a:endParaRPr lang="en-US" dirty="0"/>
          </a:p>
          <a:p>
            <a:r>
              <a:rPr dirty="0"/>
              <a:t>- State the risk surfaced during the demo</a:t>
            </a:r>
          </a:p>
          <a:p>
            <a:r>
              <a:rPr dirty="0"/>
              <a:t>- Run @shape-backlog to turn the ledger into evidence-backed candidates</a:t>
            </a:r>
          </a:p>
          <a:p>
            <a:r>
              <a:rPr dirty="0"/>
              <a:t>- State the small, safe first move</a:t>
            </a:r>
          </a:p>
          <a:p>
            <a:r>
              <a:rPr dirty="0"/>
              <a:t>- Call out: safety improvement, not a rewrite — earns the right to a bigger change later</a:t>
            </a:r>
          </a:p>
          <a:p>
            <a:endParaRPr dirty="0"/>
          </a:p>
          <a:p>
            <a:r>
              <a:rPr lang="en-US" dirty="0"/>
              <a:t>OBS: VS Code Demo</a:t>
            </a:r>
          </a:p>
          <a:p>
            <a:endParaRPr lang="en-US"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r>
              <a:rPr lang="en-US" dirty="0"/>
              <a:t>OBS: Slides and Camera</a:t>
            </a:r>
          </a:p>
          <a:p>
            <a:endParaRPr lang="en-US" dirty="0"/>
          </a:p>
          <a:p>
            <a:r>
              <a:rPr dirty="0"/>
              <a:t>- Pick one change you're uncomfortable making</a:t>
            </a:r>
          </a:p>
          <a:p>
            <a:r>
              <a:rPr dirty="0"/>
              <a:t>- Frame a question, boundary, stop condition</a:t>
            </a:r>
          </a:p>
          <a:p>
            <a:r>
              <a:rPr dirty="0"/>
              <a:t>- Ask AI for a cited evidence map</a:t>
            </a:r>
          </a:p>
          <a:p>
            <a:r>
              <a:rPr dirty="0"/>
              <a:t>- Verify only the claims that would change your decision</a:t>
            </a:r>
          </a:p>
          <a:p>
            <a:r>
              <a:rPr dirty="0"/>
              <a:t>- Turn it into one small, safe backlog item</a:t>
            </a:r>
          </a:p>
          <a:p>
            <a:r>
              <a:rPr dirty="0"/>
              <a:t>- Close: "not perfect knowledge — the next justified move"</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~00:10</a:t>
            </a:r>
          </a:p>
          <a:p>
            <a:endParaRPr dirty="0"/>
          </a:p>
          <a:p>
            <a:r>
              <a:rPr lang="en-US" dirty="0"/>
              <a:t>OBS: Slides and Camera</a:t>
            </a:r>
          </a:p>
          <a:p>
            <a:endParaRPr lang="en-US" dirty="0"/>
          </a:p>
          <a:p>
            <a:r>
              <a:rPr dirty="0"/>
              <a:t>- Where does your team lose the most system knowledge?</a:t>
            </a:r>
          </a:p>
          <a:p>
            <a:r>
              <a:rPr dirty="0"/>
              <a:t>- Which evidence source is hardest to trust or access?</a:t>
            </a:r>
          </a:p>
          <a:p>
            <a:r>
              <a:rPr dirty="0"/>
              <a:t>- What would make this workflow safe in your environment?</a:t>
            </a:r>
          </a:p>
          <a:p>
            <a:r>
              <a:rPr dirty="0"/>
              <a:t>- Any modernization idea that's really a learning step in disguise?</a:t>
            </a:r>
          </a:p>
          <a:p>
            <a:r>
              <a:rPr dirty="0"/>
              <a:t>- Take questions, thank the audience</a:t>
            </a:r>
          </a:p>
          <a:p>
            <a:endParaRPr dirty="0"/>
          </a:p>
          <a:p>
            <a:r>
              <a:rPr dirty="0"/>
              <a:t>---</a:t>
            </a:r>
          </a:p>
          <a:p>
            <a:endParaRPr dirty="0"/>
          </a:p>
          <a:p>
            <a:r>
              <a:rPr dirty="0"/>
              <a:t>Source: slides\marp\software-archaeology-with-ai.deck.md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dirty="0"/>
              <a:t>Software Archaeology</a:t>
            </a:r>
          </a:p>
        </p:txBody>
      </p:sp>
      <p:sp>
        <p:nvSpPr>
          <p:cNvPr id="3" name="Subtitle 2"/>
          <p:cNvSpPr>
            <a:spLocks noGrp="1"/>
          </p:cNvSpPr>
          <p:nvPr>
            <p:ph type="subTitle" idx="1"/>
          </p:nvPr>
        </p:nvSpPr>
        <p:spPr/>
        <p:txBody>
          <a:bodyPr wrap="square">
            <a:normAutofit/>
          </a:bodyPr>
          <a:lstStyle/>
          <a:p>
            <a:r>
              <a:rPr lang="en-US" dirty="0"/>
              <a:t>with AI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563C3D8-8C59-F7CE-EACA-05FA675FB223}"/>
              </a:ext>
            </a:extLst>
          </p:cNvPr>
          <p:cNvSpPr txBox="1"/>
          <p:nvPr/>
        </p:nvSpPr>
        <p:spPr>
          <a:xfrm>
            <a:off x="1162822" y="4522463"/>
            <a:ext cx="9866357" cy="1200329"/>
          </a:xfrm>
          <a:prstGeom prst="rect">
            <a:avLst/>
          </a:prstGeom>
          <a:noFill/>
        </p:spPr>
        <p:txBody>
          <a:bodyPr wrap="square">
            <a:normAutofit/>
          </a:bodyPr>
          <a:lstStyle/>
          <a:p>
            <a:pPr algn="ctr" defTabSz="914377">
              <a:spcBef>
                <a:spcPts val="1000"/>
              </a:spcBef>
              <a:defRPr/>
            </a:pPr>
            <a: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t>30 years of</a:t>
            </a:r>
            <a:b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4000" b="1" i="1" dirty="0">
                <a:solidFill>
                  <a:schemeClr val="bg1"/>
                </a:solidFill>
                <a:latin typeface="Noto Sans" panose="020B0502040504020204" pitchFamily="34" charset="0"/>
                <a:ea typeface="Noto Sans" panose="020B0502040504020204" pitchFamily="34" charset="0"/>
                <a:cs typeface="Noto Sans" panose="020B0502040504020204" pitchFamily="34" charset="0"/>
              </a:rPr>
              <a:t>“Helping People Build Better Software” </a:t>
            </a:r>
          </a:p>
        </p:txBody>
      </p:sp>
      <p:grpSp>
        <p:nvGrpSpPr>
          <p:cNvPr id="2" name="Group 1">
            <a:extLst>
              <a:ext uri="{FF2B5EF4-FFF2-40B4-BE49-F238E27FC236}">
                <a16:creationId xmlns:a16="http://schemas.microsoft.com/office/drawing/2014/main" id="{21B6B861-B80F-C477-CF48-A326D6C71CC8}"/>
              </a:ext>
            </a:extLst>
          </p:cNvPr>
          <p:cNvGrpSpPr/>
          <p:nvPr/>
        </p:nvGrpSpPr>
        <p:grpSpPr>
          <a:xfrm>
            <a:off x="1859228" y="2539587"/>
            <a:ext cx="8473541" cy="1702628"/>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3"/>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4"/>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5"/>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6"/>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7"/>
          <a:srcRect/>
          <a:stretch/>
        </p:blipFill>
        <p:spPr>
          <a:xfrm>
            <a:off x="3561857" y="1243627"/>
            <a:ext cx="5081523" cy="151175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6303061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John Michael Miller</a:t>
            </a:r>
          </a:p>
        </p:txBody>
      </p:sp>
      <p:sp>
        <p:nvSpPr>
          <p:cNvPr id="4" name="Content Placeholder 3"/>
          <p:cNvSpPr>
            <a:spLocks noGrp="1"/>
          </p:cNvSpPr>
          <p:nvPr>
            <p:ph sz="half" idx="2"/>
          </p:nvPr>
        </p:nvSpPr>
        <p:spPr>
          <a:xfrm>
            <a:off x="4583502" y="1463752"/>
            <a:ext cx="6770298" cy="4351338"/>
          </a:xfrm>
        </p:spPr>
        <p:txBody>
          <a:bodyPr>
            <a:normAutofit/>
          </a:bodyPr>
          <a:lstStyle/>
          <a:p>
            <a:pPr>
              <a:lnSpc>
                <a:spcPct val="90000"/>
              </a:lnSpc>
              <a:buNone/>
            </a:pPr>
            <a:r>
              <a:rPr lang="en-US" sz="1800" b="1" i="0" u="none" dirty="0"/>
              <a:t>Principal Software Archaeologist/Architect/Engineer</a:t>
            </a:r>
          </a:p>
          <a:p>
            <a:pPr>
              <a:lnSpc>
                <a:spcPct val="90000"/>
              </a:lnSpc>
              <a:buNone/>
            </a:pPr>
            <a:r>
              <a:rPr lang="en-US" sz="1800" b="0" i="0" u="none" dirty="0"/>
              <a:t>Played roles of developer, architect, </a:t>
            </a:r>
            <a:r>
              <a:rPr lang="en-US" sz="1800" b="0" i="0" u="none" dirty="0" err="1"/>
              <a:t>devops</a:t>
            </a:r>
            <a:r>
              <a:rPr lang="en-US" sz="1800" b="0" i="0" u="none" dirty="0"/>
              <a:t> engineer, platform engineer, test architect, release manager</a:t>
            </a:r>
          </a:p>
          <a:p>
            <a:pPr>
              <a:lnSpc>
                <a:spcPct val="90000"/>
              </a:lnSpc>
              <a:buNone/>
            </a:pPr>
            <a:r>
              <a:rPr lang="en-US" sz="1800" b="0" i="0" u="none" dirty="0"/>
              <a:t>AI Practitioner and advocate for effectively using AI to write code</a:t>
            </a:r>
          </a:p>
          <a:p>
            <a:pPr>
              <a:lnSpc>
                <a:spcPct val="90000"/>
              </a:lnSpc>
              <a:buNone/>
            </a:pPr>
            <a:endParaRPr lang="en-US" sz="1800" b="0" i="0" u="none" dirty="0"/>
          </a:p>
          <a:p>
            <a:pPr>
              <a:lnSpc>
                <a:spcPct val="90000"/>
              </a:lnSpc>
            </a:pPr>
            <a:r>
              <a:rPr lang="en-US" sz="1800" b="0" i="0" u="none" dirty="0"/>
              <a:t>LinkedIn: www.linkedin.com/in/johnmichaelmiller</a:t>
            </a:r>
          </a:p>
          <a:p>
            <a:pPr>
              <a:lnSpc>
                <a:spcPct val="90000"/>
              </a:lnSpc>
            </a:pPr>
            <a:r>
              <a:rPr lang="en-US" sz="1800" b="0" i="0" u="none" dirty="0"/>
              <a:t>Email: john.miller@codegroup.io</a:t>
            </a:r>
          </a:p>
          <a:p>
            <a:pPr>
              <a:lnSpc>
                <a:spcPct val="90000"/>
              </a:lnSpc>
            </a:pPr>
            <a:r>
              <a:rPr lang="en-US" sz="1800" b="0" i="0" u="none" dirty="0"/>
              <a:t>Blog: codemag.com/blog/</a:t>
            </a:r>
            <a:r>
              <a:rPr lang="en-US" sz="1800" b="0" i="0" u="none" dirty="0" err="1"/>
              <a:t>AIPractitioner</a:t>
            </a:r>
            <a:endParaRPr lang="en-US" sz="1800" b="0" i="0" u="none" dirty="0"/>
          </a:p>
        </p:txBody>
      </p:sp>
      <p:pic>
        <p:nvPicPr>
          <p:cNvPr id="10" name="Content Placeholder 9">
            <a:extLst>
              <a:ext uri="{FF2B5EF4-FFF2-40B4-BE49-F238E27FC236}">
                <a16:creationId xmlns:a16="http://schemas.microsoft.com/office/drawing/2014/main" id="{A38FD211-6BF8-7012-5D87-44D20FB241D2}"/>
              </a:ext>
            </a:extLst>
          </p:cNvPr>
          <p:cNvPicPr>
            <a:picLocks noGrp="1" noChangeAspect="1"/>
          </p:cNvPicPr>
          <p:nvPr>
            <p:ph sz="half" idx="1"/>
          </p:nvPr>
        </p:nvPicPr>
        <p:blipFill>
          <a:blip r:embed="rId3"/>
          <a:srcRect/>
          <a:stretch>
            <a:fillRect/>
          </a:stretch>
        </p:blipFill>
        <p:spPr>
          <a:xfrm>
            <a:off x="966158" y="1239387"/>
            <a:ext cx="3324535" cy="4986803"/>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Agenda</a:t>
            </a:r>
          </a:p>
        </p:txBody>
      </p:sp>
      <p:sp>
        <p:nvSpPr>
          <p:cNvPr id="3" name="Content Placeholder 2"/>
          <p:cNvSpPr>
            <a:spLocks noGrp="1"/>
          </p:cNvSpPr>
          <p:nvPr>
            <p:ph idx="1"/>
          </p:nvPr>
        </p:nvSpPr>
        <p:spPr>
          <a:xfrm>
            <a:off x="838200" y="1461483"/>
            <a:ext cx="10515600" cy="4351338"/>
          </a:xfrm>
        </p:spPr>
        <p:txBody>
          <a:bodyPr>
            <a:normAutofit/>
          </a:bodyPr>
          <a:lstStyle/>
          <a:p>
            <a:r>
              <a:rPr lang="en-US" b="0" i="0" u="none"/>
              <a:t>Frame the question before exploring the code</a:t>
            </a:r>
            <a:endParaRPr lang="en-US" b="0" i="0"/>
          </a:p>
          <a:p>
            <a:r>
              <a:rPr lang="en-US" b="0" i="0" u="none"/>
              <a:t>Recover evidence from code, tests, configuration, history, and runtime context</a:t>
            </a:r>
            <a:endParaRPr lang="en-US" b="0" i="0"/>
          </a:p>
          <a:p>
            <a:r>
              <a:rPr lang="en-US" b="0" i="0" u="none"/>
              <a:t>Map behavior, dependencies, risks, and unknowns with AI</a:t>
            </a:r>
            <a:endParaRPr lang="en-US" b="0" i="0"/>
          </a:p>
          <a:p>
            <a:r>
              <a:rPr lang="en-US" b="0" i="0" u="none"/>
              <a:t>Verify findings and distinguish facts from inferences</a:t>
            </a:r>
            <a:endParaRPr lang="en-US" b="0" i="0"/>
          </a:p>
          <a:p>
            <a:r>
              <a:rPr lang="en-US" b="0" i="0" u="none"/>
              <a:t>Turn discoveries into a prioritized modernization backlog</a:t>
            </a:r>
            <a:endParaRPr lang="en-US" b="0" i="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What Is Software Archaeology?</a:t>
            </a:r>
          </a:p>
        </p:txBody>
      </p:sp>
      <p:sp>
        <p:nvSpPr>
          <p:cNvPr id="3" name="Content Placeholder 2"/>
          <p:cNvSpPr>
            <a:spLocks noGrp="1"/>
          </p:cNvSpPr>
          <p:nvPr>
            <p:ph idx="1"/>
          </p:nvPr>
        </p:nvSpPr>
        <p:spPr>
          <a:xfrm>
            <a:off x="838200" y="1461483"/>
            <a:ext cx="10515600" cy="4351338"/>
          </a:xfrm>
        </p:spPr>
        <p:txBody>
          <a:bodyPr>
            <a:normAutofit/>
          </a:bodyPr>
          <a:lstStyle/>
          <a:p>
            <a:pPr>
              <a:lnSpc>
                <a:spcPct val="90000"/>
              </a:lnSpc>
              <a:buNone/>
            </a:pPr>
            <a:r>
              <a:rPr lang="en-US" sz="2400" b="0" i="0" u="none" dirty="0"/>
              <a:t>Software archaeology is the disciplined investigation of an existing system to recover:</a:t>
            </a:r>
            <a:endParaRPr lang="en-US" sz="2400" b="0" i="0" dirty="0"/>
          </a:p>
          <a:p>
            <a:pPr>
              <a:lnSpc>
                <a:spcPct val="90000"/>
              </a:lnSpc>
              <a:buNone/>
            </a:pPr>
            <a:endParaRPr lang="en-US" sz="2400" b="0" i="0" dirty="0"/>
          </a:p>
          <a:p>
            <a:pPr>
              <a:lnSpc>
                <a:spcPct val="90000"/>
              </a:lnSpc>
            </a:pPr>
            <a:r>
              <a:rPr lang="en-US" sz="2400" b="0" i="0" u="none" dirty="0"/>
              <a:t>The behavior it exhibits today</a:t>
            </a:r>
            <a:endParaRPr lang="en-US" sz="2400" b="0" i="0" dirty="0"/>
          </a:p>
          <a:p>
            <a:pPr>
              <a:lnSpc>
                <a:spcPct val="90000"/>
              </a:lnSpc>
            </a:pPr>
            <a:r>
              <a:rPr lang="en-US" sz="2400" b="0" i="0" u="none" dirty="0"/>
              <a:t>The decisions and constraints that shaped it</a:t>
            </a:r>
            <a:endParaRPr lang="en-US" sz="2400" b="0" i="0" dirty="0"/>
          </a:p>
          <a:p>
            <a:pPr>
              <a:lnSpc>
                <a:spcPct val="90000"/>
              </a:lnSpc>
            </a:pPr>
            <a:r>
              <a:rPr lang="en-US" sz="2400" b="0" i="0" u="none" dirty="0"/>
              <a:t>The dependencies and risks surrounding a change</a:t>
            </a:r>
            <a:endParaRPr lang="en-US" sz="2400" b="0" i="0" dirty="0"/>
          </a:p>
          <a:p>
            <a:pPr>
              <a:lnSpc>
                <a:spcPct val="90000"/>
              </a:lnSpc>
            </a:pPr>
            <a:r>
              <a:rPr lang="en-US" sz="2400" b="0" i="0" u="none" dirty="0"/>
              <a:t>The evidence still needed before acting with confidence</a:t>
            </a:r>
            <a:endParaRPr lang="en-US" sz="2400" b="0" i="0" dirty="0"/>
          </a:p>
          <a:p>
            <a:pPr>
              <a:lnSpc>
                <a:spcPct val="90000"/>
              </a:lnSpc>
              <a:buNone/>
            </a:pPr>
            <a:endParaRPr lang="en-US" sz="2400" b="0" i="0" dirty="0"/>
          </a:p>
          <a:p>
            <a:pPr>
              <a:lnSpc>
                <a:spcPct val="90000"/>
              </a:lnSpc>
              <a:buNone/>
            </a:pPr>
            <a:r>
              <a:rPr lang="en-US" sz="2400" b="0" i="0" u="none" dirty="0"/>
              <a:t>It is </a:t>
            </a:r>
            <a:r>
              <a:rPr lang="en-US" sz="2400" b="1" i="0" u="none" dirty="0"/>
              <a:t>discovery before modification</a:t>
            </a:r>
            <a:r>
              <a:rPr lang="en-US" sz="2400" b="0" i="0" u="none" dirty="0"/>
              <a:t>: observe, corroborate, record, and only then change.</a:t>
            </a:r>
            <a:endParaRPr lang="en-US" sz="2400" b="0" i="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4100" b="0" i="0" u="none"/>
              <a:t>The Job Is Not "Read All the Code"</a:t>
            </a:r>
          </a:p>
        </p:txBody>
      </p:sp>
      <p:sp>
        <p:nvSpPr>
          <p:cNvPr id="3" name="Content Placeholder 2"/>
          <p:cNvSpPr>
            <a:spLocks noGrp="1"/>
          </p:cNvSpPr>
          <p:nvPr>
            <p:ph idx="1"/>
          </p:nvPr>
        </p:nvSpPr>
        <p:spPr>
          <a:xfrm>
            <a:off x="838200" y="1461483"/>
            <a:ext cx="10515600" cy="4351338"/>
          </a:xfrm>
        </p:spPr>
        <p:txBody>
          <a:bodyPr>
            <a:normAutofit/>
          </a:bodyPr>
          <a:lstStyle/>
          <a:p>
            <a:r>
              <a:rPr lang="en-US" b="0" i="0" u="none"/>
              <a:t>Answer a </a:t>
            </a:r>
            <a:r>
              <a:rPr lang="en-US" b="1" i="0" u="none"/>
              <a:t>specific change, risk, or behavior question</a:t>
            </a:r>
            <a:endParaRPr lang="en-US" b="0" i="0"/>
          </a:p>
          <a:p>
            <a:r>
              <a:rPr lang="en-US" b="0" i="0" u="none"/>
              <a:t>Build a trail from observable evidence to a defensible conclusion</a:t>
            </a:r>
            <a:endParaRPr lang="en-US" b="0" i="0"/>
          </a:p>
          <a:p>
            <a:r>
              <a:rPr lang="en-US" b="0" i="0" u="none"/>
              <a:t>Separate what the system </a:t>
            </a:r>
            <a:r>
              <a:rPr lang="en-US" b="1" i="0" u="none"/>
              <a:t>does</a:t>
            </a:r>
            <a:r>
              <a:rPr lang="en-US" b="0" i="0" u="none"/>
              <a:t>, what we </a:t>
            </a:r>
            <a:r>
              <a:rPr lang="en-US" b="1" i="0" u="none"/>
              <a:t>infer</a:t>
            </a:r>
            <a:r>
              <a:rPr lang="en-US" b="0" i="0" u="none"/>
              <a:t>, and what remains unknown</a:t>
            </a:r>
            <a:endParaRPr lang="en-US" b="0" i="0"/>
          </a:p>
          <a:p>
            <a:r>
              <a:rPr lang="en-US" b="0" i="0" u="none"/>
              <a:t>Stop when the next decision is safe enough to make</a:t>
            </a:r>
            <a:endParaRPr lang="en-US" b="0" i="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Why This Matters Now</a:t>
            </a:r>
          </a:p>
        </p:txBody>
      </p:sp>
      <p:sp>
        <p:nvSpPr>
          <p:cNvPr id="3" name="Content Placeholder 2"/>
          <p:cNvSpPr>
            <a:spLocks noGrp="1"/>
          </p:cNvSpPr>
          <p:nvPr>
            <p:ph idx="1"/>
          </p:nvPr>
        </p:nvSpPr>
        <p:spPr>
          <a:xfrm>
            <a:off x="838200" y="1461483"/>
            <a:ext cx="10515600" cy="4351338"/>
          </a:xfrm>
        </p:spPr>
        <p:txBody>
          <a:bodyPr>
            <a:normAutofit/>
          </a:bodyPr>
          <a:lstStyle/>
          <a:p>
            <a:r>
              <a:rPr lang="en-US" b="0" i="0" u="none"/>
              <a:t>Production systems carry years of business decisions and operational workarounds</a:t>
            </a:r>
            <a:endParaRPr lang="en-US" b="0" i="0"/>
          </a:p>
          <a:p>
            <a:r>
              <a:rPr lang="en-US" b="0" i="0" u="none"/>
              <a:t>Delivery pressure encourages changes before intent is understood</a:t>
            </a:r>
            <a:endParaRPr lang="en-US" b="0" i="0"/>
          </a:p>
          <a:p>
            <a:r>
              <a:rPr lang="en-US" b="0" i="0" u="none"/>
              <a:t>AI can search, summarize, and connect evidence faster than a person working alone</a:t>
            </a:r>
            <a:endParaRPr lang="en-US" b="0" i="0"/>
          </a:p>
          <a:p>
            <a:r>
              <a:rPr lang="en-US" b="0" i="0" u="none"/>
              <a:t>AI can also create plausible stories that the codebase never supported</a:t>
            </a:r>
            <a:endParaRPr lang="en-US" b="0" i="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Meet the Software Archeologist</a:t>
            </a:r>
          </a:p>
        </p:txBody>
      </p:sp>
      <p:sp>
        <p:nvSpPr>
          <p:cNvPr id="3" name="Content Placeholder 2"/>
          <p:cNvSpPr>
            <a:spLocks noGrp="1"/>
          </p:cNvSpPr>
          <p:nvPr>
            <p:ph sz="half" idx="1"/>
          </p:nvPr>
        </p:nvSpPr>
        <p:spPr>
          <a:xfrm>
            <a:off x="838200" y="1463752"/>
            <a:ext cx="5181600" cy="4351338"/>
          </a:xfrm>
        </p:spPr>
        <p:txBody>
          <a:bodyPr>
            <a:normAutofit/>
          </a:bodyPr>
          <a:lstStyle/>
          <a:p>
            <a:pPr>
              <a:lnSpc>
                <a:spcPct val="90000"/>
              </a:lnSpc>
              <a:buNone/>
            </a:pPr>
            <a:r>
              <a:rPr lang="en-US" sz="2200" b="1" i="0" u="none" dirty="0"/>
              <a:t>What it is</a:t>
            </a:r>
            <a:endParaRPr lang="en-US" sz="2200" b="0" i="0" dirty="0"/>
          </a:p>
          <a:p>
            <a:pPr>
              <a:lnSpc>
                <a:spcPct val="90000"/>
              </a:lnSpc>
              <a:buNone/>
            </a:pPr>
            <a:endParaRPr lang="en-US" sz="2200" b="0" i="0" dirty="0"/>
          </a:p>
          <a:p>
            <a:pPr>
              <a:lnSpc>
                <a:spcPct val="90000"/>
              </a:lnSpc>
            </a:pPr>
            <a:r>
              <a:rPr lang="en-US" sz="2200" b="0" i="0" u="none" dirty="0"/>
              <a:t>A custom AI agent for investigating unfamiliar or legacy code</a:t>
            </a:r>
            <a:endParaRPr lang="en-US" sz="2200" b="0" i="0" dirty="0"/>
          </a:p>
          <a:p>
            <a:pPr>
              <a:lnSpc>
                <a:spcPct val="90000"/>
              </a:lnSpc>
            </a:pPr>
            <a:r>
              <a:rPr lang="en-US" sz="2200" b="0" i="0" u="none" dirty="0"/>
              <a:t>Starts with a </a:t>
            </a:r>
            <a:r>
              <a:rPr lang="en-US" sz="2200" b="1" i="0" u="none" dirty="0"/>
              <a:t>question, boundary, and stop condition</a:t>
            </a:r>
            <a:endParaRPr lang="en-US" sz="2200" b="0" i="0" dirty="0"/>
          </a:p>
          <a:p>
            <a:pPr>
              <a:lnSpc>
                <a:spcPct val="90000"/>
              </a:lnSpc>
            </a:pPr>
            <a:r>
              <a:rPr lang="en-US" sz="2200" b="0" i="0" u="none" dirty="0"/>
              <a:t>Produces cited findings instead of an unbounded architecture summary</a:t>
            </a:r>
            <a:endParaRPr lang="en-US" sz="2200" b="0" i="0" dirty="0"/>
          </a:p>
          <a:p>
            <a:pPr>
              <a:lnSpc>
                <a:spcPct val="90000"/>
              </a:lnSpc>
            </a:pPr>
            <a:r>
              <a:rPr lang="en-US" sz="2200" b="0" i="0" u="none" dirty="0"/>
              <a:t>Remains non-destructive unless implementation is separately requested</a:t>
            </a:r>
            <a:endParaRPr lang="en-US" sz="2200" b="0" i="0" dirty="0"/>
          </a:p>
        </p:txBody>
      </p:sp>
      <p:sp>
        <p:nvSpPr>
          <p:cNvPr id="4" name="Content Placeholder 3"/>
          <p:cNvSpPr>
            <a:spLocks noGrp="1"/>
          </p:cNvSpPr>
          <p:nvPr>
            <p:ph sz="half" idx="2"/>
          </p:nvPr>
        </p:nvSpPr>
        <p:spPr>
          <a:xfrm>
            <a:off x="6172202" y="1463752"/>
            <a:ext cx="5181600" cy="4351338"/>
          </a:xfrm>
        </p:spPr>
        <p:txBody>
          <a:bodyPr>
            <a:normAutofit/>
          </a:bodyPr>
          <a:lstStyle/>
          <a:p>
            <a:pPr>
              <a:lnSpc>
                <a:spcPct val="90000"/>
              </a:lnSpc>
              <a:buNone/>
            </a:pPr>
            <a:r>
              <a:rPr lang="en-US" sz="2000" b="1" i="0" u="none"/>
              <a:t>What it can do</a:t>
            </a:r>
            <a:endParaRPr lang="en-US" sz="2000" b="0" i="0"/>
          </a:p>
          <a:p>
            <a:pPr>
              <a:lnSpc>
                <a:spcPct val="90000"/>
              </a:lnSpc>
              <a:buNone/>
            </a:pPr>
            <a:endParaRPr lang="en-US" sz="2000" b="0" i="0"/>
          </a:p>
          <a:p>
            <a:pPr>
              <a:lnSpc>
                <a:spcPct val="90000"/>
              </a:lnSpc>
            </a:pPr>
            <a:r>
              <a:rPr lang="en-US" sz="2000" b="0" i="0" u="none"/>
              <a:t>Map entry points, behavior, dependencies, data, and operational context</a:t>
            </a:r>
            <a:endParaRPr lang="en-US" sz="2000" b="0" i="0"/>
          </a:p>
          <a:p>
            <a:pPr>
              <a:lnSpc>
                <a:spcPct val="90000"/>
              </a:lnSpc>
            </a:pPr>
            <a:r>
              <a:rPr lang="en-US" sz="2000" b="0" i="0" u="none"/>
              <a:t>Mine history to recover intent, while corroborating it with tests, configuration, runtime evidence, or domain owners</a:t>
            </a:r>
            <a:endParaRPr lang="en-US" sz="2000" b="0" i="0"/>
          </a:p>
          <a:p>
            <a:pPr>
              <a:lnSpc>
                <a:spcPct val="90000"/>
              </a:lnSpc>
            </a:pPr>
            <a:r>
              <a:rPr lang="en-US" sz="2000" b="0" i="0" u="none"/>
              <a:t>Label claims as fact, inference, or open question</a:t>
            </a:r>
            <a:endParaRPr lang="en-US" sz="2000" b="0" i="0"/>
          </a:p>
          <a:p>
            <a:pPr>
              <a:lnSpc>
                <a:spcPct val="90000"/>
              </a:lnSpc>
            </a:pPr>
            <a:r>
              <a:rPr lang="en-US" sz="2000" b="0" i="0" u="none"/>
              <a:t>Build an evidence ledger and shape prioritized modernization backlog items</a:t>
            </a:r>
            <a:endParaRPr lang="en-US" sz="2000" b="0" i="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The Archaeologist's Posture</a:t>
            </a:r>
          </a:p>
        </p:txBody>
      </p:sp>
      <p:sp>
        <p:nvSpPr>
          <p:cNvPr id="3" name="Content Placeholder 2"/>
          <p:cNvSpPr>
            <a:spLocks noGrp="1"/>
          </p:cNvSpPr>
          <p:nvPr>
            <p:ph sz="half" idx="1"/>
          </p:nvPr>
        </p:nvSpPr>
        <p:spPr>
          <a:xfrm>
            <a:off x="838200" y="1463752"/>
            <a:ext cx="5181600" cy="4351338"/>
          </a:xfrm>
        </p:spPr>
        <p:txBody>
          <a:bodyPr>
            <a:normAutofit/>
          </a:bodyPr>
          <a:lstStyle/>
          <a:p>
            <a:pPr>
              <a:lnSpc>
                <a:spcPct val="90000"/>
              </a:lnSpc>
              <a:buNone/>
            </a:pPr>
            <a:r>
              <a:rPr lang="en-US" sz="2400" b="1" i="0" u="none"/>
              <a:t>Work from evidence</a:t>
            </a:r>
            <a:endParaRPr lang="en-US" sz="2400" b="0" i="0"/>
          </a:p>
          <a:p>
            <a:pPr>
              <a:lnSpc>
                <a:spcPct val="90000"/>
              </a:lnSpc>
              <a:buNone/>
            </a:pPr>
            <a:endParaRPr lang="en-US" sz="2400" b="0" i="0"/>
          </a:p>
          <a:p>
            <a:pPr>
              <a:lnSpc>
                <a:spcPct val="90000"/>
              </a:lnSpc>
            </a:pPr>
            <a:r>
              <a:rPr lang="en-US" sz="2400" b="0" i="0" u="none"/>
              <a:t>Read before proposing changes</a:t>
            </a:r>
            <a:endParaRPr lang="en-US" sz="2400" b="0" i="0"/>
          </a:p>
          <a:p>
            <a:pPr>
              <a:lnSpc>
                <a:spcPct val="90000"/>
              </a:lnSpc>
            </a:pPr>
            <a:r>
              <a:rPr lang="en-US" sz="2400" b="0" i="0" u="none"/>
              <a:t>Treat repository artifacts as primary sources</a:t>
            </a:r>
            <a:endParaRPr lang="en-US" sz="2400" b="0" i="0"/>
          </a:p>
          <a:p>
            <a:pPr>
              <a:lnSpc>
                <a:spcPct val="90000"/>
              </a:lnSpc>
            </a:pPr>
            <a:r>
              <a:rPr lang="en-US" sz="2400" b="0" i="0" u="none"/>
              <a:t>Capture file paths, symbols, tests, and configuration as you go</a:t>
            </a:r>
            <a:endParaRPr lang="en-US" sz="2400" b="0" i="0"/>
          </a:p>
          <a:p>
            <a:pPr>
              <a:lnSpc>
                <a:spcPct val="90000"/>
              </a:lnSpc>
            </a:pPr>
            <a:r>
              <a:rPr lang="en-US" sz="2400" b="0" i="0" u="none"/>
              <a:t>Prefer a smaller verified conclusion to a broad attractive guess</a:t>
            </a:r>
            <a:endParaRPr lang="en-US" sz="2400" b="0" i="0"/>
          </a:p>
        </p:txBody>
      </p:sp>
      <p:sp>
        <p:nvSpPr>
          <p:cNvPr id="4" name="Content Placeholder 3"/>
          <p:cNvSpPr>
            <a:spLocks noGrp="1"/>
          </p:cNvSpPr>
          <p:nvPr>
            <p:ph sz="half" idx="2"/>
          </p:nvPr>
        </p:nvSpPr>
        <p:spPr>
          <a:xfrm>
            <a:off x="6172202" y="1463752"/>
            <a:ext cx="5181600" cy="4351338"/>
          </a:xfrm>
        </p:spPr>
        <p:txBody>
          <a:bodyPr>
            <a:normAutofit/>
          </a:bodyPr>
          <a:lstStyle/>
          <a:p>
            <a:pPr>
              <a:lnSpc>
                <a:spcPct val="90000"/>
              </a:lnSpc>
              <a:buNone/>
            </a:pPr>
            <a:r>
              <a:rPr lang="en-US" sz="2400" b="1" i="0" u="none"/>
              <a:t>Preserve uncertainty</a:t>
            </a:r>
            <a:endParaRPr lang="en-US" sz="2400" b="0" i="0"/>
          </a:p>
          <a:p>
            <a:pPr>
              <a:lnSpc>
                <a:spcPct val="90000"/>
              </a:lnSpc>
              <a:buNone/>
            </a:pPr>
            <a:endParaRPr lang="en-US" sz="2400" b="0" i="0"/>
          </a:p>
          <a:p>
            <a:pPr>
              <a:lnSpc>
                <a:spcPct val="90000"/>
              </a:lnSpc>
            </a:pPr>
            <a:r>
              <a:rPr lang="en-US" sz="2400" b="0" i="0" u="none"/>
              <a:t>Label facts, inferences, and open questions separately</a:t>
            </a:r>
            <a:endParaRPr lang="en-US" sz="2400" b="0" i="0"/>
          </a:p>
          <a:p>
            <a:pPr>
              <a:lnSpc>
                <a:spcPct val="90000"/>
              </a:lnSpc>
            </a:pPr>
            <a:r>
              <a:rPr lang="en-US" sz="2400" b="0" i="0" u="none"/>
              <a:t>Ask what evidence could disprove the current theory</a:t>
            </a:r>
            <a:endParaRPr lang="en-US" sz="2400" b="0" i="0"/>
          </a:p>
          <a:p>
            <a:pPr>
              <a:lnSpc>
                <a:spcPct val="90000"/>
              </a:lnSpc>
            </a:pPr>
            <a:r>
              <a:rPr lang="en-US" sz="2400" b="0" i="0" u="none"/>
              <a:t>Keep investigation steps small and reversible</a:t>
            </a:r>
            <a:endParaRPr lang="en-US" sz="2400" b="0" i="0"/>
          </a:p>
          <a:p>
            <a:pPr>
              <a:lnSpc>
                <a:spcPct val="90000"/>
              </a:lnSpc>
            </a:pPr>
            <a:r>
              <a:rPr lang="en-US" sz="2400" b="0" i="0" u="none"/>
              <a:t>Escalate domain questions to the people who own the decision</a:t>
            </a:r>
            <a:endParaRPr lang="en-US" sz="2400" b="0" i="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90329F-78F1-B325-6C91-3BB8137C5B8D}"/>
              </a:ext>
            </a:extLst>
          </p:cNvPr>
          <p:cNvSpPr>
            <a:spLocks noGrp="1"/>
          </p:cNvSpPr>
          <p:nvPr>
            <p:ph type="title"/>
          </p:nvPr>
        </p:nvSpPr>
        <p:spPr/>
        <p:txBody>
          <a:bodyPr/>
          <a:lstStyle/>
          <a:p>
            <a:r>
              <a:rPr lang="en-US" dirty="0"/>
              <a:t>Review the Software Archaeologist Agent</a:t>
            </a:r>
          </a:p>
        </p:txBody>
      </p:sp>
    </p:spTree>
    <p:extLst>
      <p:ext uri="{BB962C8B-B14F-4D97-AF65-F5344CB8AC3E}">
        <p14:creationId xmlns:p14="http://schemas.microsoft.com/office/powerpoint/2010/main" val="104108757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The Archaeology Loop</a:t>
            </a:r>
          </a:p>
        </p:txBody>
      </p:sp>
      <p:sp>
        <p:nvSpPr>
          <p:cNvPr id="3" name="Content Placeholder 2"/>
          <p:cNvSpPr>
            <a:spLocks noGrp="1"/>
          </p:cNvSpPr>
          <p:nvPr>
            <p:ph sz="half" idx="1"/>
          </p:nvPr>
        </p:nvSpPr>
        <p:spPr>
          <a:xfrm>
            <a:off x="838200" y="1463752"/>
            <a:ext cx="5181600" cy="4351338"/>
          </a:xfrm>
        </p:spPr>
        <p:txBody>
          <a:bodyPr>
            <a:normAutofit/>
          </a:bodyPr>
          <a:lstStyle/>
          <a:p>
            <a:r>
              <a:rPr lang="en-US" b="0" i="0" u="none"/>
              <a:t>Each pass should make one decision safer or expose the next question</a:t>
            </a:r>
            <a:endParaRPr lang="en-US" b="0" i="0"/>
          </a:p>
          <a:p>
            <a:r>
              <a:rPr lang="en-US" b="0" i="0" u="none"/>
              <a:t>AI accelerates collection and synthesis; people validate conclusions and choose tradeoffs</a:t>
            </a:r>
            <a:endParaRPr lang="en-US" b="0" i="0"/>
          </a:p>
        </p:txBody>
      </p:sp>
      <p:pic>
        <p:nvPicPr>
          <p:cNvPr id="4" name="Picture 3" descr="01bcd8d536865f25d115e06f512367f391608d1b.png"/>
          <p:cNvPicPr>
            <a:picLocks noChangeAspect="1"/>
          </p:cNvPicPr>
          <p:nvPr/>
        </p:nvPicPr>
        <p:blipFill>
          <a:blip r:embed="rId3"/>
          <a:stretch>
            <a:fillRect/>
          </a:stretch>
        </p:blipFill>
        <p:spPr>
          <a:xfrm>
            <a:off x="7539186" y="1463752"/>
            <a:ext cx="2447627" cy="4351338"/>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Pass 1: Orient the Investigation</a:t>
            </a:r>
          </a:p>
        </p:txBody>
      </p:sp>
      <p:sp>
        <p:nvSpPr>
          <p:cNvPr id="3" name="Content Placeholder 2"/>
          <p:cNvSpPr>
            <a:spLocks noGrp="1"/>
          </p:cNvSpPr>
          <p:nvPr>
            <p:ph idx="1"/>
          </p:nvPr>
        </p:nvSpPr>
        <p:spPr>
          <a:xfrm>
            <a:off x="838200" y="1461483"/>
            <a:ext cx="10515600" cy="4351338"/>
          </a:xfrm>
        </p:spPr>
        <p:txBody>
          <a:bodyPr>
            <a:normAutofit/>
          </a:bodyPr>
          <a:lstStyle/>
          <a:p>
            <a:pPr>
              <a:lnSpc>
                <a:spcPct val="90000"/>
              </a:lnSpc>
            </a:pPr>
            <a:r>
              <a:rPr lang="en-US" sz="2200" b="0" i="0" u="none" dirty="0"/>
              <a:t>Locate application entry points, runnable projects, and public interfaces</a:t>
            </a:r>
            <a:endParaRPr lang="en-US" sz="2200" b="0" i="0" dirty="0"/>
          </a:p>
          <a:p>
            <a:pPr>
              <a:lnSpc>
                <a:spcPct val="90000"/>
              </a:lnSpc>
            </a:pPr>
            <a:r>
              <a:rPr lang="en-US" sz="2200" b="0" i="0" u="none" dirty="0"/>
              <a:t>Inventory ownership clues: folders, READMEs, manifests, build scripts, and runbooks</a:t>
            </a:r>
            <a:endParaRPr lang="en-US" sz="2200" b="0" i="0" dirty="0"/>
          </a:p>
          <a:p>
            <a:pPr>
              <a:lnSpc>
                <a:spcPct val="90000"/>
              </a:lnSpc>
            </a:pPr>
            <a:r>
              <a:rPr lang="en-US" sz="2200" b="0" i="0" u="none" dirty="0"/>
              <a:t>Identify the </a:t>
            </a:r>
            <a:r>
              <a:rPr lang="en-US" sz="2200" b="1" i="0" u="none" dirty="0"/>
              <a:t>smallest plausible boundary</a:t>
            </a:r>
            <a:r>
              <a:rPr lang="en-US" sz="2200" b="0" i="0" u="none" dirty="0"/>
              <a:t> around the question</a:t>
            </a:r>
            <a:endParaRPr lang="en-US" sz="2200" b="0" i="0" dirty="0"/>
          </a:p>
          <a:p>
            <a:pPr>
              <a:lnSpc>
                <a:spcPct val="90000"/>
              </a:lnSpc>
            </a:pPr>
            <a:r>
              <a:rPr lang="en-US" sz="2200" b="0" i="0" u="none" dirty="0"/>
              <a:t>Ask AI for an evidence-indexed map, not a generic architecture summary</a:t>
            </a:r>
            <a:endParaRPr lang="en-US" sz="2200" b="0" i="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4100" b="0" i="0" u="none"/>
              <a:t>Pass 2: Trace Behavior End to End</a:t>
            </a:r>
          </a:p>
        </p:txBody>
      </p:sp>
      <p:sp>
        <p:nvSpPr>
          <p:cNvPr id="3" name="Content Placeholder 2"/>
          <p:cNvSpPr>
            <a:spLocks noGrp="1"/>
          </p:cNvSpPr>
          <p:nvPr>
            <p:ph idx="1"/>
          </p:nvPr>
        </p:nvSpPr>
        <p:spPr>
          <a:xfrm>
            <a:off x="838200" y="1461483"/>
            <a:ext cx="10515600" cy="4351338"/>
          </a:xfrm>
        </p:spPr>
        <p:txBody>
          <a:bodyPr>
            <a:normAutofit/>
          </a:bodyPr>
          <a:lstStyle/>
          <a:p>
            <a:r>
              <a:rPr lang="en-US" b="0" i="0" u="none"/>
              <a:t>Start at a user action, API route, message, scheduled job, or command</a:t>
            </a:r>
            <a:endParaRPr lang="en-US" b="0" i="0"/>
          </a:p>
          <a:p>
            <a:r>
              <a:rPr lang="en-US" b="0" i="0" u="none"/>
              <a:t>Follow calls until you reach state changes, external effects, and error handling</a:t>
            </a:r>
            <a:endParaRPr lang="en-US" b="0" i="0"/>
          </a:p>
          <a:p>
            <a:r>
              <a:rPr lang="en-US" b="0" i="0" u="none"/>
              <a:t>Read nearby tests to learn the observable contract</a:t>
            </a:r>
            <a:endParaRPr lang="en-US" b="0" i="0"/>
          </a:p>
          <a:p>
            <a:r>
              <a:rPr lang="en-US" b="0" i="0" u="none"/>
              <a:t>Record branch conditions and side effects that could change outcomes</a:t>
            </a:r>
            <a:endParaRPr lang="en-US" b="0" i="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3700" b="0" i="0" u="none"/>
              <a:t>Pass 3: Map Dependencies and Data</a:t>
            </a:r>
          </a:p>
        </p:txBody>
      </p:sp>
      <p:sp>
        <p:nvSpPr>
          <p:cNvPr id="3" name="Content Placeholder 2"/>
          <p:cNvSpPr>
            <a:spLocks noGrp="1"/>
          </p:cNvSpPr>
          <p:nvPr>
            <p:ph idx="1"/>
          </p:nvPr>
        </p:nvSpPr>
        <p:spPr>
          <a:xfrm>
            <a:off x="838200" y="1461483"/>
            <a:ext cx="10515600" cy="4351338"/>
          </a:xfrm>
        </p:spPr>
        <p:txBody>
          <a:bodyPr>
            <a:normAutofit/>
          </a:bodyPr>
          <a:lstStyle/>
          <a:p>
            <a:r>
              <a:rPr lang="en-US" b="0" i="0" u="none"/>
              <a:t>Trace inbound callers and outbound services, queues, files, and databases</a:t>
            </a:r>
            <a:endParaRPr lang="en-US" b="0" i="0"/>
          </a:p>
          <a:p>
            <a:r>
              <a:rPr lang="en-US" b="0" i="0" u="none"/>
              <a:t>Identify schemas, persistence boundaries, feature flags, and configuration switches</a:t>
            </a:r>
            <a:endParaRPr lang="en-US" b="0" i="0"/>
          </a:p>
          <a:p>
            <a:r>
              <a:rPr lang="en-US" b="0" i="0" u="none"/>
              <a:t>Distinguish a compile-time reference from a runtime dependency</a:t>
            </a:r>
            <a:endParaRPr lang="en-US" b="0" i="0"/>
          </a:p>
          <a:p>
            <a:r>
              <a:rPr lang="en-US" b="0" i="0" u="none"/>
              <a:t>Look for shared tables, implicit contracts, and one-way migrations</a:t>
            </a:r>
            <a:endParaRPr lang="en-US" b="0" i="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sz="3700" b="0" i="0" u="none"/>
              <a:t>Pass 4: Recover History and Operations</a:t>
            </a:r>
          </a:p>
        </p:txBody>
      </p:sp>
      <p:sp>
        <p:nvSpPr>
          <p:cNvPr id="3" name="Content Placeholder 2"/>
          <p:cNvSpPr>
            <a:spLocks noGrp="1"/>
          </p:cNvSpPr>
          <p:nvPr>
            <p:ph idx="1"/>
          </p:nvPr>
        </p:nvSpPr>
        <p:spPr>
          <a:xfrm>
            <a:off x="838200" y="1461483"/>
            <a:ext cx="10515600" cy="4351338"/>
          </a:xfrm>
        </p:spPr>
        <p:txBody>
          <a:bodyPr>
            <a:normAutofit/>
          </a:bodyPr>
          <a:lstStyle/>
          <a:p>
            <a:r>
              <a:rPr lang="en-US" b="0" i="0" u="none"/>
              <a:t>Use commit history, issue links, release notes, and migrations to recover rationale</a:t>
            </a:r>
            <a:endParaRPr lang="en-US" b="0" i="0"/>
          </a:p>
          <a:p>
            <a:r>
              <a:rPr lang="en-US" b="0" i="0" u="none"/>
              <a:t>Compare code assumptions with dashboards, alerts, traces, and incident notes</a:t>
            </a:r>
            <a:endParaRPr lang="en-US" b="0" i="0"/>
          </a:p>
          <a:p>
            <a:r>
              <a:rPr lang="en-US" b="0" i="0" u="none"/>
              <a:t>Treat comments as clues, not proof, until corroborated</a:t>
            </a:r>
            <a:endParaRPr lang="en-US" b="0" i="0"/>
          </a:p>
          <a:p>
            <a:r>
              <a:rPr lang="en-US" b="0" i="0" u="none"/>
              <a:t>Identify decisions that were locally rational but may no longer fit today</a:t>
            </a:r>
            <a:endParaRPr lang="en-US" b="0" i="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4100" b="0" i="0" u="none"/>
              <a:t>Let AI Do the Expensive First Pass</a:t>
            </a:r>
          </a:p>
        </p:txBody>
      </p:sp>
      <p:sp>
        <p:nvSpPr>
          <p:cNvPr id="3" name="Content Placeholder 2"/>
          <p:cNvSpPr>
            <a:spLocks noGrp="1"/>
          </p:cNvSpPr>
          <p:nvPr>
            <p:ph sz="half" idx="1"/>
          </p:nvPr>
        </p:nvSpPr>
        <p:spPr>
          <a:xfrm>
            <a:off x="838200" y="1463752"/>
            <a:ext cx="5181600" cy="4351338"/>
          </a:xfrm>
        </p:spPr>
        <p:txBody>
          <a:bodyPr>
            <a:normAutofit/>
          </a:bodyPr>
          <a:lstStyle/>
          <a:p>
            <a:pPr>
              <a:lnSpc>
                <a:spcPct val="90000"/>
              </a:lnSpc>
              <a:buNone/>
            </a:pPr>
            <a:r>
              <a:rPr lang="en-US" sz="2600" b="1" i="0" u="none"/>
              <a:t>Useful AI work</a:t>
            </a:r>
            <a:endParaRPr lang="en-US" sz="2600" b="0" i="0"/>
          </a:p>
          <a:p>
            <a:pPr>
              <a:lnSpc>
                <a:spcPct val="90000"/>
              </a:lnSpc>
              <a:buNone/>
            </a:pPr>
            <a:endParaRPr lang="en-US" sz="2600" b="0" i="0"/>
          </a:p>
          <a:p>
            <a:pPr>
              <a:lnSpc>
                <a:spcPct val="90000"/>
              </a:lnSpc>
            </a:pPr>
            <a:r>
              <a:rPr lang="en-US" sz="2600" b="0" i="0" u="none"/>
              <a:t>Locate likely entry points and related artifacts</a:t>
            </a:r>
            <a:endParaRPr lang="en-US" sz="2600" b="0" i="0"/>
          </a:p>
          <a:p>
            <a:pPr>
              <a:lnSpc>
                <a:spcPct val="90000"/>
              </a:lnSpc>
            </a:pPr>
            <a:r>
              <a:rPr lang="en-US" sz="2600" b="0" i="0" u="none"/>
              <a:t>Summarize a bounded file or call chain</a:t>
            </a:r>
            <a:endParaRPr lang="en-US" sz="2600" b="0" i="0"/>
          </a:p>
          <a:p>
            <a:pPr>
              <a:lnSpc>
                <a:spcPct val="90000"/>
              </a:lnSpc>
            </a:pPr>
            <a:r>
              <a:rPr lang="en-US" sz="2600" b="0" i="0" u="none"/>
              <a:t>Compare tests with implementation branches</a:t>
            </a:r>
            <a:endParaRPr lang="en-US" sz="2600" b="0" i="0"/>
          </a:p>
          <a:p>
            <a:pPr>
              <a:lnSpc>
                <a:spcPct val="90000"/>
              </a:lnSpc>
            </a:pPr>
            <a:r>
              <a:rPr lang="en-US" sz="2600" b="0" i="0" u="none"/>
              <a:t>Extract candidates for contracts, risks, and questions</a:t>
            </a:r>
            <a:endParaRPr lang="en-US" sz="2600" b="0" i="0"/>
          </a:p>
        </p:txBody>
      </p:sp>
      <p:sp>
        <p:nvSpPr>
          <p:cNvPr id="4" name="Content Placeholder 3"/>
          <p:cNvSpPr>
            <a:spLocks noGrp="1"/>
          </p:cNvSpPr>
          <p:nvPr>
            <p:ph sz="half" idx="2"/>
          </p:nvPr>
        </p:nvSpPr>
        <p:spPr>
          <a:xfrm>
            <a:off x="6172202" y="1463752"/>
            <a:ext cx="5181600" cy="4351338"/>
          </a:xfrm>
        </p:spPr>
        <p:txBody>
          <a:bodyPr>
            <a:normAutofit/>
          </a:bodyPr>
          <a:lstStyle/>
          <a:p>
            <a:pPr>
              <a:lnSpc>
                <a:spcPct val="90000"/>
              </a:lnSpc>
              <a:buNone/>
            </a:pPr>
            <a:r>
              <a:rPr lang="en-US" sz="2600" b="1" i="0" u="none"/>
              <a:t>Human-owned judgment</a:t>
            </a:r>
            <a:endParaRPr lang="en-US" sz="2600" b="0" i="0"/>
          </a:p>
          <a:p>
            <a:pPr>
              <a:lnSpc>
                <a:spcPct val="90000"/>
              </a:lnSpc>
              <a:buNone/>
            </a:pPr>
            <a:endParaRPr lang="en-US" sz="2600" b="0" i="0"/>
          </a:p>
          <a:p>
            <a:pPr>
              <a:lnSpc>
                <a:spcPct val="90000"/>
              </a:lnSpc>
            </a:pPr>
            <a:r>
              <a:rPr lang="en-US" sz="2600" b="0" i="0" u="none"/>
              <a:t>Confirm claims against primary evidence</a:t>
            </a:r>
            <a:endParaRPr lang="en-US" sz="2600" b="0" i="0"/>
          </a:p>
          <a:p>
            <a:pPr>
              <a:lnSpc>
                <a:spcPct val="90000"/>
              </a:lnSpc>
            </a:pPr>
            <a:r>
              <a:rPr lang="en-US" sz="2600" b="0" i="0" u="none"/>
              <a:t>Resolve domain intent and acceptable risk</a:t>
            </a:r>
            <a:endParaRPr lang="en-US" sz="2600" b="0" i="0"/>
          </a:p>
          <a:p>
            <a:pPr>
              <a:lnSpc>
                <a:spcPct val="90000"/>
              </a:lnSpc>
            </a:pPr>
            <a:r>
              <a:rPr lang="en-US" sz="2600" b="0" i="0" u="none"/>
              <a:t>Decide scope, sequencing, and ownership</a:t>
            </a:r>
            <a:endParaRPr lang="en-US" sz="2600" b="0" i="0"/>
          </a:p>
          <a:p>
            <a:pPr>
              <a:lnSpc>
                <a:spcPct val="90000"/>
              </a:lnSpc>
            </a:pPr>
            <a:r>
              <a:rPr lang="en-US" sz="2600" b="0" i="0" u="none"/>
              <a:t>Approve any code or configuration change</a:t>
            </a:r>
            <a:endParaRPr lang="en-US" sz="2600" b="0" i="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Keep an Evidence Ledger</a:t>
            </a:r>
          </a:p>
        </p:txBody>
      </p:sp>
      <p:graphicFrame>
        <p:nvGraphicFramePr>
          <p:cNvPr id="3" name="Table 2"/>
          <p:cNvGraphicFramePr>
            <a:graphicFrameLocks noGrp="1"/>
          </p:cNvGraphicFramePr>
          <p:nvPr>
            <p:extLst>
              <p:ext uri="{D42A27DB-BD31-4B8C-83A1-F6EECF244321}">
                <p14:modId xmlns:p14="http://schemas.microsoft.com/office/powerpoint/2010/main" val="1409759868"/>
              </p:ext>
            </p:extLst>
          </p:nvPr>
        </p:nvGraphicFramePr>
        <p:xfrm>
          <a:off x="1079553" y="1461483"/>
          <a:ext cx="10032896" cy="4351339"/>
        </p:xfrm>
        <a:graphic>
          <a:graphicData uri="http://schemas.openxmlformats.org/drawingml/2006/table">
            <a:tbl>
              <a:tblPr firstRow="1" bandRow="1">
                <a:tableStyleId>{5C22544A-7EE6-4342-B048-85BDC9FD1C3A}</a:tableStyleId>
              </a:tblPr>
              <a:tblGrid>
                <a:gridCol w="2319364">
                  <a:extLst>
                    <a:ext uri="{9D8B030D-6E8A-4147-A177-3AD203B41FA5}">
                      <a16:colId xmlns:a16="http://schemas.microsoft.com/office/drawing/2014/main" val="20000"/>
                    </a:ext>
                  </a:extLst>
                </a:gridCol>
                <a:gridCol w="3834263">
                  <a:extLst>
                    <a:ext uri="{9D8B030D-6E8A-4147-A177-3AD203B41FA5}">
                      <a16:colId xmlns:a16="http://schemas.microsoft.com/office/drawing/2014/main" val="20001"/>
                    </a:ext>
                  </a:extLst>
                </a:gridCol>
                <a:gridCol w="1688491">
                  <a:extLst>
                    <a:ext uri="{9D8B030D-6E8A-4147-A177-3AD203B41FA5}">
                      <a16:colId xmlns:a16="http://schemas.microsoft.com/office/drawing/2014/main" val="20002"/>
                    </a:ext>
                  </a:extLst>
                </a:gridCol>
                <a:gridCol w="2190778">
                  <a:extLst>
                    <a:ext uri="{9D8B030D-6E8A-4147-A177-3AD203B41FA5}">
                      <a16:colId xmlns:a16="http://schemas.microsoft.com/office/drawing/2014/main" val="20003"/>
                    </a:ext>
                  </a:extLst>
                </a:gridCol>
              </a:tblGrid>
              <a:tr h="779229">
                <a:tc>
                  <a:txBody>
                    <a:bodyPr/>
                    <a:lstStyle/>
                    <a:p>
                      <a:pPr>
                        <a:buNone/>
                        <a:defRPr sz="1600" b="1">
                          <a:solidFill>
                            <a:schemeClr val="bg1"/>
                          </a:solidFill>
                        </a:defRPr>
                      </a:pPr>
                      <a:r>
                        <a:rPr lang="en-US" sz="2000" b="0" i="0" u="none"/>
                        <a:t>Claim</a:t>
                      </a:r>
                    </a:p>
                  </a:txBody>
                  <a:tcPr marL="115727" marR="115727" marT="57864" marB="57864">
                    <a:solidFill>
                      <a:schemeClr val="accent4"/>
                    </a:solidFill>
                  </a:tcPr>
                </a:tc>
                <a:tc>
                  <a:txBody>
                    <a:bodyPr/>
                    <a:lstStyle/>
                    <a:p>
                      <a:pPr>
                        <a:buNone/>
                        <a:defRPr sz="1600" b="1">
                          <a:solidFill>
                            <a:schemeClr val="bg1"/>
                          </a:solidFill>
                        </a:defRPr>
                      </a:pPr>
                      <a:r>
                        <a:rPr lang="en-US" sz="2000" b="0" i="0" u="none"/>
                        <a:t>Evidence</a:t>
                      </a:r>
                    </a:p>
                  </a:txBody>
                  <a:tcPr marL="115727" marR="115727" marT="57864" marB="57864">
                    <a:solidFill>
                      <a:schemeClr val="accent4"/>
                    </a:solidFill>
                  </a:tcPr>
                </a:tc>
                <a:tc>
                  <a:txBody>
                    <a:bodyPr/>
                    <a:lstStyle/>
                    <a:p>
                      <a:pPr>
                        <a:buNone/>
                        <a:defRPr sz="1600" b="1">
                          <a:solidFill>
                            <a:schemeClr val="bg1"/>
                          </a:solidFill>
                        </a:defRPr>
                      </a:pPr>
                      <a:r>
                        <a:rPr lang="en-US" sz="2000" b="0" i="0" u="none"/>
                        <a:t>Confidence</a:t>
                      </a:r>
                    </a:p>
                  </a:txBody>
                  <a:tcPr marL="115727" marR="115727" marT="57864" marB="57864">
                    <a:solidFill>
                      <a:schemeClr val="accent4"/>
                    </a:solidFill>
                  </a:tcPr>
                </a:tc>
                <a:tc>
                  <a:txBody>
                    <a:bodyPr/>
                    <a:lstStyle/>
                    <a:p>
                      <a:pPr>
                        <a:buNone/>
                        <a:defRPr sz="1600" b="1">
                          <a:solidFill>
                            <a:schemeClr val="bg1"/>
                          </a:solidFill>
                        </a:defRPr>
                      </a:pPr>
                      <a:r>
                        <a:rPr lang="en-US" sz="2000" b="0" i="0" u="none"/>
                        <a:t>Unknown / next check</a:t>
                      </a:r>
                    </a:p>
                  </a:txBody>
                  <a:tcPr marL="115727" marR="115727" marT="57864" marB="57864">
                    <a:solidFill>
                      <a:schemeClr val="accent4"/>
                    </a:solidFill>
                  </a:tcPr>
                </a:tc>
                <a:extLst>
                  <a:ext uri="{0D108BD9-81ED-4DB2-BD59-A6C34878D82A}">
                    <a16:rowId xmlns:a16="http://schemas.microsoft.com/office/drawing/2014/main" val="10000"/>
                  </a:ext>
                </a:extLst>
              </a:tr>
              <a:tr h="1087835">
                <a:tc>
                  <a:txBody>
                    <a:bodyPr/>
                    <a:lstStyle/>
                    <a:p>
                      <a:pPr>
                        <a:buNone/>
                        <a:defRPr sz="1600" b="0">
                          <a:solidFill>
                            <a:schemeClr val="tx1"/>
                          </a:solidFill>
                        </a:defRPr>
                      </a:pPr>
                      <a:r>
                        <a:rPr lang="en-US" sz="2000" b="0" i="0" u="none">
                          <a:latin typeface="Consolas"/>
                        </a:rPr>
                        <a:t>/play</a:t>
                      </a:r>
                      <a:r>
                        <a:rPr lang="en-US" sz="2000" b="0" i="0" u="none"/>
                        <a:t> is registered during startup</a:t>
                      </a:r>
                    </a:p>
                  </a:txBody>
                  <a:tcPr marL="115727" marR="115727" marT="57864" marB="57864">
                    <a:solidFill>
                      <a:schemeClr val="accent4">
                        <a:lumMod val="20000"/>
                        <a:lumOff val="80000"/>
                      </a:schemeClr>
                    </a:solidFill>
                  </a:tcPr>
                </a:tc>
                <a:tc>
                  <a:txBody>
                    <a:bodyPr/>
                    <a:lstStyle/>
                    <a:p>
                      <a:pPr>
                        <a:buNone/>
                        <a:defRPr sz="1600" b="0">
                          <a:solidFill>
                            <a:schemeClr val="tx1"/>
                          </a:solidFill>
                        </a:defRPr>
                      </a:pPr>
                      <a:r>
                        <a:rPr lang="en-US" sz="2000" b="0" i="0" u="none">
                          <a:latin typeface="Consolas"/>
                        </a:rPr>
                        <a:t>init</a:t>
                      </a:r>
                      <a:r>
                        <a:rPr lang="en-US" sz="2000" b="0" i="0" u="none"/>
                        <a:t>, </a:t>
                      </a:r>
                      <a:r>
                        <a:rPr lang="en-US" sz="2000" b="0" i="0" u="none">
                          <a:latin typeface="Consolas"/>
                        </a:rPr>
                        <a:t>ALL_MODULES</a:t>
                      </a:r>
                      <a:r>
                        <a:rPr lang="en-US" sz="2000" b="0" i="0" u="none"/>
                        <a:t>, </a:t>
                      </a:r>
                      <a:r>
                        <a:rPr lang="en-US" sz="2000" b="0" i="0" u="none">
                          <a:latin typeface="Consolas"/>
                        </a:rPr>
                        <a:t>play_commnd</a:t>
                      </a:r>
                    </a:p>
                  </a:txBody>
                  <a:tcPr marL="115727" marR="115727" marT="57864" marB="57864">
                    <a:solidFill>
                      <a:schemeClr val="accent4">
                        <a:lumMod val="20000"/>
                        <a:lumOff val="80000"/>
                      </a:schemeClr>
                    </a:solidFill>
                  </a:tcPr>
                </a:tc>
                <a:tc>
                  <a:txBody>
                    <a:bodyPr/>
                    <a:lstStyle/>
                    <a:p>
                      <a:pPr>
                        <a:buNone/>
                        <a:defRPr sz="1600" b="0">
                          <a:solidFill>
                            <a:schemeClr val="tx1"/>
                          </a:solidFill>
                        </a:defRPr>
                      </a:pPr>
                      <a:r>
                        <a:rPr lang="en-US" sz="2000" b="0" i="0" u="none"/>
                        <a:t>High</a:t>
                      </a:r>
                    </a:p>
                  </a:txBody>
                  <a:tcPr marL="115727" marR="115727" marT="57864" marB="57864">
                    <a:solidFill>
                      <a:schemeClr val="accent4">
                        <a:lumMod val="20000"/>
                        <a:lumOff val="80000"/>
                      </a:schemeClr>
                    </a:solidFill>
                  </a:tcPr>
                </a:tc>
                <a:tc>
                  <a:txBody>
                    <a:bodyPr/>
                    <a:lstStyle/>
                    <a:p>
                      <a:pPr>
                        <a:buNone/>
                        <a:defRPr sz="1600" b="0">
                          <a:solidFill>
                            <a:schemeClr val="tx1"/>
                          </a:solidFill>
                        </a:defRPr>
                      </a:pPr>
                      <a:r>
                        <a:rPr lang="en-US" sz="2000" b="0" i="0" u="none"/>
                        <a:t>Confirm import order in deployment</a:t>
                      </a:r>
                    </a:p>
                  </a:txBody>
                  <a:tcPr marL="115727" marR="115727" marT="57864" marB="57864">
                    <a:solidFill>
                      <a:schemeClr val="accent4">
                        <a:lumMod val="20000"/>
                        <a:lumOff val="80000"/>
                      </a:schemeClr>
                    </a:solidFill>
                  </a:tcPr>
                </a:tc>
                <a:extLst>
                  <a:ext uri="{0D108BD9-81ED-4DB2-BD59-A6C34878D82A}">
                    <a16:rowId xmlns:a16="http://schemas.microsoft.com/office/drawing/2014/main" val="10001"/>
                  </a:ext>
                </a:extLst>
              </a:tr>
              <a:tr h="1087835">
                <a:tc>
                  <a:txBody>
                    <a:bodyPr/>
                    <a:lstStyle/>
                    <a:p>
                      <a:pPr>
                        <a:buNone/>
                        <a:defRPr sz="1600" b="0">
                          <a:solidFill>
                            <a:schemeClr val="tx1"/>
                          </a:solidFill>
                        </a:defRPr>
                      </a:pPr>
                      <a:r>
                        <a:rPr lang="en-US" sz="2000" b="0" i="0" u="none">
                          <a:latin typeface="Consolas"/>
                        </a:rPr>
                        <a:t>/playforce</a:t>
                      </a:r>
                      <a:r>
                        <a:rPr lang="en-US" sz="2000" b="0" i="0" u="none"/>
                        <a:t> prepends the queue entry</a:t>
                      </a:r>
                    </a:p>
                  </a:txBody>
                  <a:tcPr marL="115727" marR="115727" marT="57864" marB="57864">
                    <a:solidFill>
                      <a:schemeClr val="accent4">
                        <a:lumMod val="8000"/>
                        <a:lumOff val="92000"/>
                      </a:schemeClr>
                    </a:solidFill>
                  </a:tcPr>
                </a:tc>
                <a:tc>
                  <a:txBody>
                    <a:bodyPr/>
                    <a:lstStyle/>
                    <a:p>
                      <a:pPr>
                        <a:buNone/>
                        <a:defRPr sz="1600" b="0">
                          <a:solidFill>
                            <a:schemeClr val="tx1"/>
                          </a:solidFill>
                        </a:defRPr>
                      </a:pPr>
                      <a:r>
                        <a:rPr lang="en-US" sz="2000" b="0" i="0" u="none">
                          <a:latin typeface="Consolas"/>
                        </a:rPr>
                        <a:t>PlayWrapper</a:t>
                      </a:r>
                      <a:r>
                        <a:rPr lang="en-US" sz="2000" b="0" i="0" u="none"/>
                        <a:t>, </a:t>
                      </a:r>
                      <a:r>
                        <a:rPr lang="en-US" sz="2000" b="0" i="0" u="none">
                          <a:latin typeface="Consolas"/>
                        </a:rPr>
                        <a:t>put_queue(forceplay=...)</a:t>
                      </a:r>
                    </a:p>
                  </a:txBody>
                  <a:tcPr marL="115727" marR="115727" marT="57864" marB="57864">
                    <a:solidFill>
                      <a:schemeClr val="accent4">
                        <a:lumMod val="8000"/>
                        <a:lumOff val="92000"/>
                      </a:schemeClr>
                    </a:solidFill>
                  </a:tcPr>
                </a:tc>
                <a:tc>
                  <a:txBody>
                    <a:bodyPr/>
                    <a:lstStyle/>
                    <a:p>
                      <a:pPr>
                        <a:buNone/>
                        <a:defRPr sz="1600" b="0">
                          <a:solidFill>
                            <a:schemeClr val="tx1"/>
                          </a:solidFill>
                        </a:defRPr>
                      </a:pPr>
                      <a:r>
                        <a:rPr lang="en-US" sz="2000" b="0" i="0" u="none"/>
                        <a:t>High</a:t>
                      </a:r>
                    </a:p>
                  </a:txBody>
                  <a:tcPr marL="115727" marR="115727" marT="57864" marB="57864">
                    <a:solidFill>
                      <a:schemeClr val="accent4">
                        <a:lumMod val="8000"/>
                        <a:lumOff val="92000"/>
                      </a:schemeClr>
                    </a:solidFill>
                  </a:tcPr>
                </a:tc>
                <a:tc>
                  <a:txBody>
                    <a:bodyPr/>
                    <a:lstStyle/>
                    <a:p>
                      <a:pPr>
                        <a:buNone/>
                        <a:defRPr sz="1600" b="0">
                          <a:solidFill>
                            <a:schemeClr val="tx1"/>
                          </a:solidFill>
                        </a:defRPr>
                      </a:pPr>
                      <a:r>
                        <a:rPr lang="en-US" sz="2000" b="0" i="0" u="none"/>
                        <a:t>Check skip behavior after forced playback</a:t>
                      </a:r>
                    </a:p>
                  </a:txBody>
                  <a:tcPr marL="115727" marR="115727" marT="57864" marB="57864">
                    <a:solidFill>
                      <a:schemeClr val="accent4">
                        <a:lumMod val="8000"/>
                        <a:lumOff val="92000"/>
                      </a:schemeClr>
                    </a:solidFill>
                  </a:tcPr>
                </a:tc>
                <a:extLst>
                  <a:ext uri="{0D108BD9-81ED-4DB2-BD59-A6C34878D82A}">
                    <a16:rowId xmlns:a16="http://schemas.microsoft.com/office/drawing/2014/main" val="10002"/>
                  </a:ext>
                </a:extLst>
              </a:tr>
              <a:tr h="1396440">
                <a:tc>
                  <a:txBody>
                    <a:bodyPr/>
                    <a:lstStyle/>
                    <a:p>
                      <a:pPr>
                        <a:buNone/>
                        <a:defRPr sz="1600" b="0">
                          <a:solidFill>
                            <a:schemeClr val="tx1"/>
                          </a:solidFill>
                        </a:defRPr>
                      </a:pPr>
                      <a:r>
                        <a:rPr lang="en-US" sz="2000" b="0" i="0" u="none"/>
                        <a:t>Callback IDs preserve the request contract</a:t>
                      </a:r>
                    </a:p>
                  </a:txBody>
                  <a:tcPr marL="115727" marR="115727" marT="57864" marB="57864">
                    <a:solidFill>
                      <a:schemeClr val="accent4">
                        <a:lumMod val="20000"/>
                        <a:lumOff val="80000"/>
                      </a:schemeClr>
                    </a:solidFill>
                  </a:tcPr>
                </a:tc>
                <a:tc>
                  <a:txBody>
                    <a:bodyPr/>
                    <a:lstStyle/>
                    <a:p>
                      <a:pPr>
                        <a:buNone/>
                        <a:defRPr sz="1600" b="0">
                          <a:solidFill>
                            <a:schemeClr val="tx1"/>
                          </a:solidFill>
                        </a:defRPr>
                      </a:pPr>
                      <a:r>
                        <a:rPr lang="en-US" sz="2000" b="0" i="0" u="none">
                          <a:latin typeface="Consolas"/>
                        </a:rPr>
                        <a:t>track_markup</a:t>
                      </a:r>
                      <a:r>
                        <a:rPr lang="en-US" sz="2000" b="0" i="0" u="none"/>
                        <a:t>, </a:t>
                      </a:r>
                      <a:r>
                        <a:rPr lang="en-US" sz="2000" b="0" i="0" u="none">
                          <a:latin typeface="Consolas"/>
                        </a:rPr>
                        <a:t>play_music</a:t>
                      </a:r>
                      <a:r>
                        <a:rPr lang="en-US" sz="2000" b="0" i="0" u="none"/>
                        <a:t>, </a:t>
                      </a:r>
                      <a:r>
                        <a:rPr lang="en-US" sz="2000" b="0" i="0" u="none">
                          <a:latin typeface="Consolas"/>
                        </a:rPr>
                        <a:t>play_live_stream</a:t>
                      </a:r>
                    </a:p>
                  </a:txBody>
                  <a:tcPr marL="115727" marR="115727" marT="57864" marB="57864">
                    <a:solidFill>
                      <a:schemeClr val="accent4">
                        <a:lumMod val="20000"/>
                        <a:lumOff val="80000"/>
                      </a:schemeClr>
                    </a:solidFill>
                  </a:tcPr>
                </a:tc>
                <a:tc>
                  <a:txBody>
                    <a:bodyPr/>
                    <a:lstStyle/>
                    <a:p>
                      <a:pPr>
                        <a:buNone/>
                        <a:defRPr sz="1600" b="0">
                          <a:solidFill>
                            <a:schemeClr val="tx1"/>
                          </a:solidFill>
                        </a:defRPr>
                      </a:pPr>
                      <a:r>
                        <a:rPr lang="en-US" sz="2000" b="0" i="0" u="none"/>
                        <a:t>Medium</a:t>
                      </a:r>
                    </a:p>
                  </a:txBody>
                  <a:tcPr marL="115727" marR="115727" marT="57864" marB="57864">
                    <a:solidFill>
                      <a:schemeClr val="accent4">
                        <a:lumMod val="20000"/>
                        <a:lumOff val="80000"/>
                      </a:schemeClr>
                    </a:solidFill>
                  </a:tcPr>
                </a:tc>
                <a:tc>
                  <a:txBody>
                    <a:bodyPr/>
                    <a:lstStyle/>
                    <a:p>
                      <a:pPr>
                        <a:buNone/>
                        <a:defRPr sz="1600" b="0">
                          <a:solidFill>
                            <a:schemeClr val="tx1"/>
                          </a:solidFill>
                        </a:defRPr>
                      </a:pPr>
                      <a:r>
                        <a:rPr lang="en-US" sz="2000" b="0" i="0" u="none"/>
                        <a:t>Check stale-button and unauthorized cases</a:t>
                      </a:r>
                    </a:p>
                  </a:txBody>
                  <a:tcPr marL="115727" marR="115727" marT="57864" marB="57864">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3400" b="0" i="0" u="none"/>
              <a:t>Detecting Attractive but Wrong Answers</a:t>
            </a:r>
          </a:p>
        </p:txBody>
      </p:sp>
      <p:sp>
        <p:nvSpPr>
          <p:cNvPr id="3" name="Content Placeholder 2"/>
          <p:cNvSpPr>
            <a:spLocks noGrp="1"/>
          </p:cNvSpPr>
          <p:nvPr>
            <p:ph idx="1"/>
          </p:nvPr>
        </p:nvSpPr>
        <p:spPr>
          <a:xfrm>
            <a:off x="838200" y="1461483"/>
            <a:ext cx="10515600" cy="4351338"/>
          </a:xfrm>
        </p:spPr>
        <p:txBody>
          <a:bodyPr>
            <a:normAutofit/>
          </a:bodyPr>
          <a:lstStyle/>
          <a:p>
            <a:pPr>
              <a:lnSpc>
                <a:spcPct val="90000"/>
              </a:lnSpc>
            </a:pPr>
            <a:r>
              <a:rPr lang="en-US" sz="2600" b="0" i="0" u="none"/>
              <a:t>A fluent summary without file or symbol references is not evidence</a:t>
            </a:r>
            <a:endParaRPr lang="en-US" sz="2600" b="0" i="0"/>
          </a:p>
          <a:p>
            <a:pPr>
              <a:lnSpc>
                <a:spcPct val="90000"/>
              </a:lnSpc>
            </a:pPr>
            <a:r>
              <a:rPr lang="en-US" sz="2600" b="0" i="0" u="none"/>
              <a:t>A broad architecture diagram may omit runtime configuration and external contracts</a:t>
            </a:r>
            <a:endParaRPr lang="en-US" sz="2600" b="0" i="0"/>
          </a:p>
          <a:p>
            <a:pPr>
              <a:lnSpc>
                <a:spcPct val="90000"/>
              </a:lnSpc>
            </a:pPr>
            <a:r>
              <a:rPr lang="en-US" sz="2600" b="0" i="0" u="none"/>
              <a:t>An AI-generated test can repeat an incorrect assumption</a:t>
            </a:r>
            <a:endParaRPr lang="en-US" sz="2600" b="0" i="0"/>
          </a:p>
          <a:p>
            <a:pPr>
              <a:lnSpc>
                <a:spcPct val="90000"/>
              </a:lnSpc>
            </a:pPr>
            <a:r>
              <a:rPr lang="en-US" sz="2600" b="0" i="0" u="none"/>
              <a:t>A missing search result can mean a different name, generated code, or a runtime path</a:t>
            </a:r>
            <a:endParaRPr lang="en-US" sz="2600" b="0" i="0"/>
          </a:p>
          <a:p>
            <a:pPr>
              <a:lnSpc>
                <a:spcPct val="90000"/>
              </a:lnSpc>
              <a:buNone/>
            </a:pPr>
            <a:endParaRPr lang="en-US" sz="2600" b="0" i="0"/>
          </a:p>
          <a:p>
            <a:pPr>
              <a:lnSpc>
                <a:spcPct val="90000"/>
              </a:lnSpc>
              <a:buNone/>
            </a:pPr>
            <a:r>
              <a:rPr lang="en-US" sz="2600" b="1" i="0" u="none"/>
              <a:t>Countermeasure:</a:t>
            </a:r>
            <a:r>
              <a:rPr lang="en-US" sz="2600" b="0" i="0" u="none"/>
              <a:t> ask, "What observation would prove this conclusion wrong?"</a:t>
            </a:r>
            <a:endParaRPr lang="en-US" sz="2600" b="0" i="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4100" b="0" i="0" u="none"/>
              <a:t>From Findings to Risk Statements</a:t>
            </a:r>
          </a:p>
        </p:txBody>
      </p:sp>
      <p:sp>
        <p:nvSpPr>
          <p:cNvPr id="3" name="Content Placeholder 2"/>
          <p:cNvSpPr>
            <a:spLocks noGrp="1"/>
          </p:cNvSpPr>
          <p:nvPr>
            <p:ph idx="1"/>
          </p:nvPr>
        </p:nvSpPr>
        <p:spPr>
          <a:xfrm>
            <a:off x="838200" y="1461483"/>
            <a:ext cx="10515600" cy="4351338"/>
          </a:xfrm>
        </p:spPr>
        <p:txBody>
          <a:bodyPr>
            <a:normAutofit/>
          </a:bodyPr>
          <a:lstStyle/>
          <a:p>
            <a:r>
              <a:rPr sz="2600" b="1" i="0" u="none"/>
              <a:t>Behavior risk:</a:t>
            </a:r>
            <a:r>
              <a:rPr sz="2600" b="0" i="0" u="none"/>
              <a:t> a user-visible outcome may change unexpectedly</a:t>
            </a:r>
            <a:endParaRPr lang="en-US" sz="2600" b="0" i="0"/>
          </a:p>
          <a:p>
            <a:r>
              <a:rPr sz="2600" b="1" i="0" u="none"/>
              <a:t>Contract risk:</a:t>
            </a:r>
            <a:r>
              <a:rPr sz="2600" b="0" i="0" u="none"/>
              <a:t> another system depends on an undocumented shape or timing</a:t>
            </a:r>
            <a:endParaRPr lang="en-US" sz="2600" b="0" i="0"/>
          </a:p>
          <a:p>
            <a:r>
              <a:rPr sz="2600" b="1" i="0" u="none"/>
              <a:t>Operational risk:</a:t>
            </a:r>
            <a:r>
              <a:rPr sz="2600" b="0" i="0" u="none"/>
              <a:t> rollback, monitoring, or ownership is insufficient</a:t>
            </a:r>
            <a:endParaRPr lang="en-US" sz="2600" b="0" i="0"/>
          </a:p>
          <a:p>
            <a:r>
              <a:rPr sz="2600" b="1" i="0" u="none"/>
              <a:t>Delivery risk:</a:t>
            </a:r>
            <a:r>
              <a:rPr sz="2600" b="0" i="0" u="none"/>
              <a:t> the change is too large to verify or release safely</a:t>
            </a:r>
            <a:endParaRPr lang="en-US" sz="2600" b="0" i="0"/>
          </a:p>
          <a:p>
            <a:pPr>
              <a:buNone/>
            </a:pPr>
            <a:endParaRPr lang="en-US" sz="2600" b="0" i="0"/>
          </a:p>
          <a:p>
            <a:pPr>
              <a:buNone/>
            </a:pPr>
            <a:r>
              <a:rPr sz="2600" b="0" i="0" u="none"/>
              <a:t>Write risks in terms of a decision: "Changing X could affect Y because Z evidence shows..."</a:t>
            </a:r>
            <a:endParaRPr lang="en-US" sz="2600" b="0" i="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Shape Modernization Candidates</a:t>
            </a:r>
          </a:p>
        </p:txBody>
      </p:sp>
      <p:sp>
        <p:nvSpPr>
          <p:cNvPr id="3" name="Content Placeholder 2"/>
          <p:cNvSpPr>
            <a:spLocks noGrp="1"/>
          </p:cNvSpPr>
          <p:nvPr>
            <p:ph idx="1"/>
          </p:nvPr>
        </p:nvSpPr>
        <p:spPr>
          <a:xfrm>
            <a:off x="838200" y="1461483"/>
            <a:ext cx="10515600" cy="4351338"/>
          </a:xfrm>
        </p:spPr>
        <p:txBody>
          <a:bodyPr>
            <a:normAutofit/>
          </a:bodyPr>
          <a:lstStyle/>
          <a:p>
            <a:pPr>
              <a:lnSpc>
                <a:spcPct val="90000"/>
              </a:lnSpc>
            </a:pPr>
            <a:r>
              <a:rPr lang="en-US" sz="2600" b="0" i="0" u="none"/>
              <a:t>Add a focused characterization test around a high-value behavior</a:t>
            </a:r>
            <a:endParaRPr lang="en-US" sz="2600" b="0" i="0"/>
          </a:p>
          <a:p>
            <a:pPr>
              <a:lnSpc>
                <a:spcPct val="90000"/>
              </a:lnSpc>
            </a:pPr>
            <a:r>
              <a:rPr lang="en-US" sz="2600" b="0" i="0" u="none"/>
              <a:t>Make a hidden contract explicit at a boundary</a:t>
            </a:r>
            <a:endParaRPr lang="en-US" sz="2600" b="0" i="0"/>
          </a:p>
          <a:p>
            <a:pPr>
              <a:lnSpc>
                <a:spcPct val="90000"/>
              </a:lnSpc>
            </a:pPr>
            <a:r>
              <a:rPr lang="en-US" sz="2600" b="0" i="0" u="none"/>
              <a:t>Add telemetry before changing an uncertain path</a:t>
            </a:r>
            <a:endParaRPr lang="en-US" sz="2600" b="0" i="0"/>
          </a:p>
          <a:p>
            <a:pPr>
              <a:lnSpc>
                <a:spcPct val="90000"/>
              </a:lnSpc>
            </a:pPr>
            <a:r>
              <a:rPr lang="en-US" sz="2600" b="0" i="0" u="none"/>
              <a:t>Isolate a dependency behind a stable interface</a:t>
            </a:r>
            <a:endParaRPr lang="en-US" sz="2600" b="0" i="0"/>
          </a:p>
          <a:p>
            <a:pPr>
              <a:lnSpc>
                <a:spcPct val="90000"/>
              </a:lnSpc>
            </a:pPr>
            <a:r>
              <a:rPr lang="en-US" sz="2600" b="0" i="0" u="none"/>
              <a:t>Retire or document a feature flag after validating its real usage</a:t>
            </a:r>
            <a:endParaRPr lang="en-US" sz="2600" b="0" i="0"/>
          </a:p>
          <a:p>
            <a:pPr>
              <a:lnSpc>
                <a:spcPct val="90000"/>
              </a:lnSpc>
              <a:buNone/>
            </a:pPr>
            <a:endParaRPr lang="en-US" sz="2600" b="0" i="0"/>
          </a:p>
          <a:p>
            <a:pPr>
              <a:lnSpc>
                <a:spcPct val="90000"/>
              </a:lnSpc>
              <a:buNone/>
            </a:pPr>
            <a:r>
              <a:rPr lang="en-US" sz="2600" b="1" i="0" u="none"/>
              <a:t>Good candidate:</a:t>
            </a:r>
            <a:r>
              <a:rPr lang="en-US" sz="2600" b="0" i="0" u="none"/>
              <a:t> small enough to verify, reversible enough to learn from, valuable enough to matter.</a:t>
            </a:r>
            <a:endParaRPr lang="en-US" sz="2600" b="0" i="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3700" b="0" i="0" u="none"/>
              <a:t>Prioritize the Backlog With Evidence</a:t>
            </a:r>
          </a:p>
        </p:txBody>
      </p:sp>
      <p:graphicFrame>
        <p:nvGraphicFramePr>
          <p:cNvPr id="3" name="Table 2"/>
          <p:cNvGraphicFramePr>
            <a:graphicFrameLocks noGrp="1"/>
          </p:cNvGraphicFramePr>
          <p:nvPr>
            <p:extLst>
              <p:ext uri="{D42A27DB-BD31-4B8C-83A1-F6EECF244321}">
                <p14:modId xmlns:p14="http://schemas.microsoft.com/office/powerpoint/2010/main" val="2652869846"/>
              </p:ext>
            </p:extLst>
          </p:nvPr>
        </p:nvGraphicFramePr>
        <p:xfrm>
          <a:off x="838200" y="1869943"/>
          <a:ext cx="10515602" cy="3534421"/>
        </p:xfrm>
        <a:graphic>
          <a:graphicData uri="http://schemas.openxmlformats.org/drawingml/2006/table">
            <a:tbl>
              <a:tblPr firstRow="1" bandRow="1">
                <a:tableStyleId>{5C22544A-7EE6-4342-B048-85BDC9FD1C3A}</a:tableStyleId>
              </a:tblPr>
              <a:tblGrid>
                <a:gridCol w="2224680">
                  <a:extLst>
                    <a:ext uri="{9D8B030D-6E8A-4147-A177-3AD203B41FA5}">
                      <a16:colId xmlns:a16="http://schemas.microsoft.com/office/drawing/2014/main" val="20000"/>
                    </a:ext>
                  </a:extLst>
                </a:gridCol>
                <a:gridCol w="1777428">
                  <a:extLst>
                    <a:ext uri="{9D8B030D-6E8A-4147-A177-3AD203B41FA5}">
                      <a16:colId xmlns:a16="http://schemas.microsoft.com/office/drawing/2014/main" val="20001"/>
                    </a:ext>
                  </a:extLst>
                </a:gridCol>
                <a:gridCol w="2158424">
                  <a:extLst>
                    <a:ext uri="{9D8B030D-6E8A-4147-A177-3AD203B41FA5}">
                      <a16:colId xmlns:a16="http://schemas.microsoft.com/office/drawing/2014/main" val="20002"/>
                    </a:ext>
                  </a:extLst>
                </a:gridCol>
                <a:gridCol w="2196646">
                  <a:extLst>
                    <a:ext uri="{9D8B030D-6E8A-4147-A177-3AD203B41FA5}">
                      <a16:colId xmlns:a16="http://schemas.microsoft.com/office/drawing/2014/main" val="20003"/>
                    </a:ext>
                  </a:extLst>
                </a:gridCol>
                <a:gridCol w="2158424">
                  <a:extLst>
                    <a:ext uri="{9D8B030D-6E8A-4147-A177-3AD203B41FA5}">
                      <a16:colId xmlns:a16="http://schemas.microsoft.com/office/drawing/2014/main" val="20004"/>
                    </a:ext>
                  </a:extLst>
                </a:gridCol>
              </a:tblGrid>
              <a:tr h="681253">
                <a:tc>
                  <a:txBody>
                    <a:bodyPr/>
                    <a:lstStyle/>
                    <a:p>
                      <a:pPr>
                        <a:buNone/>
                        <a:defRPr sz="1600" b="1">
                          <a:solidFill>
                            <a:schemeClr val="bg1"/>
                          </a:solidFill>
                        </a:defRPr>
                      </a:pPr>
                      <a:r>
                        <a:rPr lang="en-US" sz="1800" b="0" i="0" u="none"/>
                        <a:t>Candidate</a:t>
                      </a:r>
                    </a:p>
                  </a:txBody>
                  <a:tcPr marL="101176" marR="101176" marT="50588" marB="50588">
                    <a:solidFill>
                      <a:schemeClr val="accent4"/>
                    </a:solidFill>
                  </a:tcPr>
                </a:tc>
                <a:tc>
                  <a:txBody>
                    <a:bodyPr/>
                    <a:lstStyle/>
                    <a:p>
                      <a:pPr>
                        <a:buNone/>
                        <a:defRPr sz="1600" b="1">
                          <a:solidFill>
                            <a:schemeClr val="bg1"/>
                          </a:solidFill>
                        </a:defRPr>
                      </a:pPr>
                      <a:r>
                        <a:rPr lang="en-US" sz="1800" b="0" i="0" u="none"/>
                        <a:t>Value</a:t>
                      </a:r>
                    </a:p>
                  </a:txBody>
                  <a:tcPr marL="101176" marR="101176" marT="50588" marB="50588">
                    <a:solidFill>
                      <a:schemeClr val="accent4"/>
                    </a:solidFill>
                  </a:tcPr>
                </a:tc>
                <a:tc>
                  <a:txBody>
                    <a:bodyPr/>
                    <a:lstStyle/>
                    <a:p>
                      <a:pPr>
                        <a:buNone/>
                        <a:defRPr sz="1600" b="1">
                          <a:solidFill>
                            <a:schemeClr val="bg1"/>
                          </a:solidFill>
                        </a:defRPr>
                      </a:pPr>
                      <a:r>
                        <a:rPr lang="en-US" sz="1800" b="0" i="0" u="none"/>
                        <a:t>Risk reduced</a:t>
                      </a:r>
                    </a:p>
                  </a:txBody>
                  <a:tcPr marL="101176" marR="101176" marT="50588" marB="50588">
                    <a:solidFill>
                      <a:schemeClr val="accent4"/>
                    </a:solidFill>
                  </a:tcPr>
                </a:tc>
                <a:tc>
                  <a:txBody>
                    <a:bodyPr/>
                    <a:lstStyle/>
                    <a:p>
                      <a:pPr>
                        <a:buNone/>
                        <a:defRPr sz="1600" b="1">
                          <a:solidFill>
                            <a:schemeClr val="bg1"/>
                          </a:solidFill>
                        </a:defRPr>
                      </a:pPr>
                      <a:r>
                        <a:rPr lang="en-US" sz="1800" b="0" i="0" u="none"/>
                        <a:t>Evidence confidence</a:t>
                      </a:r>
                    </a:p>
                  </a:txBody>
                  <a:tcPr marL="101176" marR="101176" marT="50588" marB="50588">
                    <a:solidFill>
                      <a:schemeClr val="accent4"/>
                    </a:solidFill>
                  </a:tcPr>
                </a:tc>
                <a:tc>
                  <a:txBody>
                    <a:bodyPr/>
                    <a:lstStyle/>
                    <a:p>
                      <a:pPr>
                        <a:buNone/>
                        <a:defRPr sz="1600" b="1">
                          <a:solidFill>
                            <a:schemeClr val="bg1"/>
                          </a:solidFill>
                        </a:defRPr>
                      </a:pPr>
                      <a:r>
                        <a:rPr lang="en-US" sz="1800" b="0" i="0" u="none"/>
                        <a:t>First move</a:t>
                      </a:r>
                    </a:p>
                  </a:txBody>
                  <a:tcPr marL="101176" marR="101176" marT="50588" marB="50588">
                    <a:solidFill>
                      <a:schemeClr val="accent4"/>
                    </a:solidFill>
                  </a:tcPr>
                </a:tc>
                <a:extLst>
                  <a:ext uri="{0D108BD9-81ED-4DB2-BD59-A6C34878D82A}">
                    <a16:rowId xmlns:a16="http://schemas.microsoft.com/office/drawing/2014/main" val="10000"/>
                  </a:ext>
                </a:extLst>
              </a:tr>
              <a:tr h="951056">
                <a:tc>
                  <a:txBody>
                    <a:bodyPr/>
                    <a:lstStyle/>
                    <a:p>
                      <a:pPr>
                        <a:buNone/>
                        <a:defRPr sz="1600" b="0">
                          <a:solidFill>
                            <a:schemeClr val="tx1"/>
                          </a:solidFill>
                        </a:defRPr>
                      </a:pPr>
                      <a:r>
                        <a:rPr lang="en-US" sz="1800" b="0" i="0" u="none"/>
                        <a:t>Characterize </a:t>
                      </a:r>
                      <a:r>
                        <a:rPr lang="en-US" sz="1800" b="0" i="0" u="none">
                          <a:latin typeface="Consolas"/>
                        </a:rPr>
                        <a:t>/play</a:t>
                      </a:r>
                      <a:r>
                        <a:rPr lang="en-US" sz="1800" b="0" i="0" u="none"/>
                        <a:t> stream handoff failures</a:t>
                      </a:r>
                    </a:p>
                  </a:txBody>
                  <a:tcPr marL="101176" marR="101176" marT="50588" marB="50588">
                    <a:solidFill>
                      <a:schemeClr val="accent4">
                        <a:lumMod val="20000"/>
                        <a:lumOff val="80000"/>
                      </a:schemeClr>
                    </a:solidFill>
                  </a:tcPr>
                </a:tc>
                <a:tc>
                  <a:txBody>
                    <a:bodyPr/>
                    <a:lstStyle/>
                    <a:p>
                      <a:pPr>
                        <a:buNone/>
                        <a:defRPr sz="1600" b="0">
                          <a:solidFill>
                            <a:schemeClr val="tx1"/>
                          </a:solidFill>
                        </a:defRPr>
                      </a:pPr>
                      <a:r>
                        <a:rPr lang="en-US" sz="1800" b="0" i="0" u="none"/>
                        <a:t>High</a:t>
                      </a:r>
                    </a:p>
                  </a:txBody>
                  <a:tcPr marL="101176" marR="101176" marT="50588" marB="50588">
                    <a:solidFill>
                      <a:schemeClr val="accent4">
                        <a:lumMod val="20000"/>
                        <a:lumOff val="80000"/>
                      </a:schemeClr>
                    </a:solidFill>
                  </a:tcPr>
                </a:tc>
                <a:tc>
                  <a:txBody>
                    <a:bodyPr/>
                    <a:lstStyle/>
                    <a:p>
                      <a:pPr>
                        <a:buNone/>
                        <a:defRPr sz="1600" b="0">
                          <a:solidFill>
                            <a:schemeClr val="tx1"/>
                          </a:solidFill>
                        </a:defRPr>
                      </a:pPr>
                      <a:r>
                        <a:rPr lang="en-US" sz="1800" b="0" i="0" u="none"/>
                        <a:t>High</a:t>
                      </a:r>
                    </a:p>
                  </a:txBody>
                  <a:tcPr marL="101176" marR="101176" marT="50588" marB="50588">
                    <a:solidFill>
                      <a:schemeClr val="accent4">
                        <a:lumMod val="20000"/>
                        <a:lumOff val="80000"/>
                      </a:schemeClr>
                    </a:solidFill>
                  </a:tcPr>
                </a:tc>
                <a:tc>
                  <a:txBody>
                    <a:bodyPr/>
                    <a:lstStyle/>
                    <a:p>
                      <a:pPr>
                        <a:buNone/>
                        <a:defRPr sz="1600" b="0">
                          <a:solidFill>
                            <a:schemeClr val="tx1"/>
                          </a:solidFill>
                        </a:defRPr>
                      </a:pPr>
                      <a:r>
                        <a:rPr lang="en-US" sz="1800" b="0" i="0" u="none"/>
                        <a:t>Medium</a:t>
                      </a:r>
                    </a:p>
                  </a:txBody>
                  <a:tcPr marL="101176" marR="101176" marT="50588" marB="50588">
                    <a:solidFill>
                      <a:schemeClr val="accent4">
                        <a:lumMod val="20000"/>
                        <a:lumOff val="80000"/>
                      </a:schemeClr>
                    </a:solidFill>
                  </a:tcPr>
                </a:tc>
                <a:tc>
                  <a:txBody>
                    <a:bodyPr/>
                    <a:lstStyle/>
                    <a:p>
                      <a:pPr>
                        <a:buNone/>
                        <a:defRPr sz="1600" b="0">
                          <a:solidFill>
                            <a:schemeClr val="tx1"/>
                          </a:solidFill>
                        </a:defRPr>
                      </a:pPr>
                      <a:r>
                        <a:rPr lang="en-US" sz="1800" b="0" i="0" u="none"/>
                        <a:t>Test YouTube, Telegram, and SoundCloud paths</a:t>
                      </a:r>
                    </a:p>
                  </a:txBody>
                  <a:tcPr marL="101176" marR="101176" marT="50588" marB="50588">
                    <a:solidFill>
                      <a:schemeClr val="accent4">
                        <a:lumMod val="20000"/>
                        <a:lumOff val="80000"/>
                      </a:schemeClr>
                    </a:solidFill>
                  </a:tcPr>
                </a:tc>
                <a:extLst>
                  <a:ext uri="{0D108BD9-81ED-4DB2-BD59-A6C34878D82A}">
                    <a16:rowId xmlns:a16="http://schemas.microsoft.com/office/drawing/2014/main" val="10001"/>
                  </a:ext>
                </a:extLst>
              </a:tr>
              <a:tr h="951056">
                <a:tc>
                  <a:txBody>
                    <a:bodyPr/>
                    <a:lstStyle/>
                    <a:p>
                      <a:pPr>
                        <a:buNone/>
                        <a:defRPr sz="1600" b="0">
                          <a:solidFill>
                            <a:schemeClr val="tx1"/>
                          </a:solidFill>
                        </a:defRPr>
                      </a:pPr>
                      <a:r>
                        <a:rPr lang="en-US" sz="1800" b="0" i="0" u="none"/>
                        <a:t>Document callback payload contracts</a:t>
                      </a:r>
                    </a:p>
                  </a:txBody>
                  <a:tcPr marL="101176" marR="101176" marT="50588" marB="50588">
                    <a:solidFill>
                      <a:schemeClr val="accent4">
                        <a:lumMod val="8000"/>
                        <a:lumOff val="92000"/>
                      </a:schemeClr>
                    </a:solidFill>
                  </a:tcPr>
                </a:tc>
                <a:tc>
                  <a:txBody>
                    <a:bodyPr/>
                    <a:lstStyle/>
                    <a:p>
                      <a:pPr>
                        <a:buNone/>
                        <a:defRPr sz="1600" b="0">
                          <a:solidFill>
                            <a:schemeClr val="tx1"/>
                          </a:solidFill>
                        </a:defRPr>
                      </a:pPr>
                      <a:r>
                        <a:rPr lang="en-US" sz="1800" b="0" i="0" u="none"/>
                        <a:t>Medium</a:t>
                      </a:r>
                    </a:p>
                  </a:txBody>
                  <a:tcPr marL="101176" marR="101176" marT="50588" marB="50588">
                    <a:solidFill>
                      <a:schemeClr val="accent4">
                        <a:lumMod val="8000"/>
                        <a:lumOff val="92000"/>
                      </a:schemeClr>
                    </a:solidFill>
                  </a:tcPr>
                </a:tc>
                <a:tc>
                  <a:txBody>
                    <a:bodyPr/>
                    <a:lstStyle/>
                    <a:p>
                      <a:pPr>
                        <a:buNone/>
                        <a:defRPr sz="1600" b="0">
                          <a:solidFill>
                            <a:schemeClr val="tx1"/>
                          </a:solidFill>
                        </a:defRPr>
                      </a:pPr>
                      <a:r>
                        <a:rPr lang="en-US" sz="1800" b="0" i="0" u="none"/>
                        <a:t>Medium</a:t>
                      </a:r>
                    </a:p>
                  </a:txBody>
                  <a:tcPr marL="101176" marR="101176" marT="50588" marB="50588">
                    <a:solidFill>
                      <a:schemeClr val="accent4">
                        <a:lumMod val="8000"/>
                        <a:lumOff val="92000"/>
                      </a:schemeClr>
                    </a:solidFill>
                  </a:tcPr>
                </a:tc>
                <a:tc>
                  <a:txBody>
                    <a:bodyPr/>
                    <a:lstStyle/>
                    <a:p>
                      <a:pPr>
                        <a:buNone/>
                        <a:defRPr sz="1600" b="0">
                          <a:solidFill>
                            <a:schemeClr val="tx1"/>
                          </a:solidFill>
                        </a:defRPr>
                      </a:pPr>
                      <a:r>
                        <a:rPr lang="en-US" sz="1800" b="0" i="0" u="none"/>
                        <a:t>High</a:t>
                      </a:r>
                    </a:p>
                  </a:txBody>
                  <a:tcPr marL="101176" marR="101176" marT="50588" marB="50588">
                    <a:solidFill>
                      <a:schemeClr val="accent4">
                        <a:lumMod val="8000"/>
                        <a:lumOff val="92000"/>
                      </a:schemeClr>
                    </a:solidFill>
                  </a:tcPr>
                </a:tc>
                <a:tc>
                  <a:txBody>
                    <a:bodyPr/>
                    <a:lstStyle/>
                    <a:p>
                      <a:pPr>
                        <a:buNone/>
                        <a:defRPr sz="1600" b="0">
                          <a:solidFill>
                            <a:schemeClr val="tx1"/>
                          </a:solidFill>
                        </a:defRPr>
                      </a:pPr>
                      <a:r>
                        <a:rPr lang="en-US" sz="1800" b="0" i="0" u="none"/>
                        <a:t>Record </a:t>
                      </a:r>
                      <a:r>
                        <a:rPr lang="en-US" sz="1800" b="0" i="0" u="none">
                          <a:latin typeface="Consolas"/>
                        </a:rPr>
                        <a:t>MusicStream</a:t>
                      </a:r>
                      <a:r>
                        <a:rPr lang="en-US" sz="1800" b="0" i="0" u="none"/>
                        <a:t> and playlist fields</a:t>
                      </a:r>
                    </a:p>
                  </a:txBody>
                  <a:tcPr marL="101176" marR="101176" marT="50588" marB="50588">
                    <a:solidFill>
                      <a:schemeClr val="accent4">
                        <a:lumMod val="8000"/>
                        <a:lumOff val="92000"/>
                      </a:schemeClr>
                    </a:solidFill>
                  </a:tcPr>
                </a:tc>
                <a:extLst>
                  <a:ext uri="{0D108BD9-81ED-4DB2-BD59-A6C34878D82A}">
                    <a16:rowId xmlns:a16="http://schemas.microsoft.com/office/drawing/2014/main" val="10002"/>
                  </a:ext>
                </a:extLst>
              </a:tr>
              <a:tr h="951056">
                <a:tc>
                  <a:txBody>
                    <a:bodyPr/>
                    <a:lstStyle/>
                    <a:p>
                      <a:pPr>
                        <a:buNone/>
                        <a:defRPr sz="1600" b="0">
                          <a:solidFill>
                            <a:schemeClr val="tx1"/>
                          </a:solidFill>
                        </a:defRPr>
                      </a:pPr>
                      <a:r>
                        <a:rPr lang="en-US" sz="1800" b="0" i="0" u="none"/>
                        <a:t>Replace the provider resolution layer</a:t>
                      </a:r>
                    </a:p>
                  </a:txBody>
                  <a:tcPr marL="101176" marR="101176" marT="50588" marB="50588">
                    <a:solidFill>
                      <a:schemeClr val="accent4">
                        <a:lumMod val="20000"/>
                        <a:lumOff val="80000"/>
                      </a:schemeClr>
                    </a:solidFill>
                  </a:tcPr>
                </a:tc>
                <a:tc>
                  <a:txBody>
                    <a:bodyPr/>
                    <a:lstStyle/>
                    <a:p>
                      <a:pPr>
                        <a:buNone/>
                        <a:defRPr sz="1600" b="0">
                          <a:solidFill>
                            <a:schemeClr val="tx1"/>
                          </a:solidFill>
                        </a:defRPr>
                      </a:pPr>
                      <a:r>
                        <a:rPr lang="en-US" sz="1800" b="0" i="0" u="none"/>
                        <a:t>High</a:t>
                      </a:r>
                    </a:p>
                  </a:txBody>
                  <a:tcPr marL="101176" marR="101176" marT="50588" marB="50588">
                    <a:solidFill>
                      <a:schemeClr val="accent4">
                        <a:lumMod val="20000"/>
                        <a:lumOff val="80000"/>
                      </a:schemeClr>
                    </a:solidFill>
                  </a:tcPr>
                </a:tc>
                <a:tc>
                  <a:txBody>
                    <a:bodyPr/>
                    <a:lstStyle/>
                    <a:p>
                      <a:pPr>
                        <a:buNone/>
                        <a:defRPr sz="1600" b="0">
                          <a:solidFill>
                            <a:schemeClr val="tx1"/>
                          </a:solidFill>
                        </a:defRPr>
                      </a:pPr>
                      <a:r>
                        <a:rPr lang="en-US" sz="1800" b="0" i="0" u="none"/>
                        <a:t>Unknown</a:t>
                      </a:r>
                    </a:p>
                  </a:txBody>
                  <a:tcPr marL="101176" marR="101176" marT="50588" marB="50588">
                    <a:solidFill>
                      <a:schemeClr val="accent4">
                        <a:lumMod val="20000"/>
                        <a:lumOff val="80000"/>
                      </a:schemeClr>
                    </a:solidFill>
                  </a:tcPr>
                </a:tc>
                <a:tc>
                  <a:txBody>
                    <a:bodyPr/>
                    <a:lstStyle/>
                    <a:p>
                      <a:pPr>
                        <a:buNone/>
                        <a:defRPr sz="1600" b="0">
                          <a:solidFill>
                            <a:schemeClr val="tx1"/>
                          </a:solidFill>
                        </a:defRPr>
                      </a:pPr>
                      <a:r>
                        <a:rPr lang="en-US" sz="1800" b="0" i="0" u="none"/>
                        <a:t>Low</a:t>
                      </a:r>
                    </a:p>
                  </a:txBody>
                  <a:tcPr marL="101176" marR="101176" marT="50588" marB="50588">
                    <a:solidFill>
                      <a:schemeClr val="accent4">
                        <a:lumMod val="20000"/>
                        <a:lumOff val="80000"/>
                      </a:schemeClr>
                    </a:solidFill>
                  </a:tcPr>
                </a:tc>
                <a:tc>
                  <a:txBody>
                    <a:bodyPr/>
                    <a:lstStyle/>
                    <a:p>
                      <a:pPr>
                        <a:buNone/>
                        <a:defRPr sz="1600" b="0">
                          <a:solidFill>
                            <a:schemeClr val="tx1"/>
                          </a:solidFill>
                        </a:defRPr>
                      </a:pPr>
                      <a:r>
                        <a:rPr lang="en-US" sz="1800" b="0" i="0" u="none"/>
                        <a:t>Map all callers and result shapes first</a:t>
                      </a:r>
                    </a:p>
                  </a:txBody>
                  <a:tcPr marL="101176" marR="101176" marT="50588" marB="50588">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3400" b="0" i="0" u="none"/>
              <a:t>Archaeology Does Not End at the Backlog</a:t>
            </a:r>
          </a:p>
        </p:txBody>
      </p:sp>
      <p:sp>
        <p:nvSpPr>
          <p:cNvPr id="3" name="Content Placeholder 2"/>
          <p:cNvSpPr>
            <a:spLocks noGrp="1"/>
          </p:cNvSpPr>
          <p:nvPr>
            <p:ph idx="1"/>
          </p:nvPr>
        </p:nvSpPr>
        <p:spPr>
          <a:xfrm>
            <a:off x="838200" y="1461483"/>
            <a:ext cx="10515600" cy="4351338"/>
          </a:xfrm>
        </p:spPr>
        <p:txBody>
          <a:bodyPr>
            <a:normAutofit/>
          </a:bodyPr>
          <a:lstStyle/>
          <a:p>
            <a:r>
              <a:rPr lang="en-US" b="0" i="0" u="none"/>
              <a:t>Keep change sets small enough for humans to review the evidence</a:t>
            </a:r>
            <a:endParaRPr lang="en-US" b="0" i="0"/>
          </a:p>
          <a:p>
            <a:r>
              <a:rPr lang="en-US" b="0" i="0" u="none"/>
              <a:t>Preserve behavior unless the decision explicitly changes it</a:t>
            </a:r>
            <a:endParaRPr lang="en-US" b="0" i="0"/>
          </a:p>
          <a:p>
            <a:r>
              <a:rPr lang="en-US" b="0" i="0" u="none"/>
              <a:t>Add tests, telemetry, or feature flags before high-uncertainty changes</a:t>
            </a:r>
            <a:endParaRPr lang="en-US" b="0" i="0"/>
          </a:p>
          <a:p>
            <a:r>
              <a:rPr lang="en-US" b="0" i="0" u="none"/>
              <a:t>Record new findings in the same evidence trail</a:t>
            </a:r>
            <a:endParaRPr lang="en-US" b="0" i="0"/>
          </a:p>
          <a:p>
            <a:r>
              <a:rPr lang="en-US" b="0" i="0" u="none"/>
              <a:t>Treat every completed item as a better map for the next investigation</a:t>
            </a:r>
            <a:endParaRPr lang="en-US" b="0" i="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Meet MusicBot</a:t>
            </a:r>
          </a:p>
        </p:txBody>
      </p:sp>
      <p:sp>
        <p:nvSpPr>
          <p:cNvPr id="3" name="Content Placeholder 2"/>
          <p:cNvSpPr>
            <a:spLocks noGrp="1"/>
          </p:cNvSpPr>
          <p:nvPr>
            <p:ph idx="1"/>
          </p:nvPr>
        </p:nvSpPr>
        <p:spPr>
          <a:xfrm>
            <a:off x="838200" y="1461483"/>
            <a:ext cx="10515600" cy="4351338"/>
          </a:xfrm>
        </p:spPr>
        <p:txBody>
          <a:bodyPr>
            <a:normAutofit lnSpcReduction="10000"/>
          </a:bodyPr>
          <a:lstStyle/>
          <a:p>
            <a:r>
              <a:rPr lang="en-US" b="0" i="0" u="none" dirty="0"/>
              <a:t>A fork of a GitHub repository written in Python</a:t>
            </a:r>
            <a:endParaRPr lang="en-US" b="0" i="0" dirty="0"/>
          </a:p>
          <a:p>
            <a:r>
              <a:rPr lang="en-US" b="0" i="0" u="none" dirty="0"/>
              <a:t>Selected essentially at random from a list of large Python repositories</a:t>
            </a:r>
            <a:endParaRPr lang="en-US" b="0" i="0" dirty="0"/>
          </a:p>
          <a:p>
            <a:r>
              <a:rPr lang="en-US" b="0" i="0" u="none" dirty="0"/>
              <a:t>Treated here as an </a:t>
            </a:r>
            <a:r>
              <a:rPr lang="en-US" b="1" i="0" u="none" dirty="0"/>
              <a:t>unknown codebase</a:t>
            </a:r>
            <a:r>
              <a:rPr lang="en-US" b="0" i="0" u="none" dirty="0"/>
              <a:t> we have been asked to improve</a:t>
            </a:r>
            <a:endParaRPr lang="en-US" b="0" i="0" dirty="0"/>
          </a:p>
          <a:p>
            <a:r>
              <a:rPr lang="en-US" b="0" i="0" u="none" dirty="0"/>
              <a:t>Our job is to recover enough evidence to choose a safe, useful next step</a:t>
            </a:r>
          </a:p>
          <a:p>
            <a:endParaRPr lang="en-US" b="0" i="0" u="none" dirty="0"/>
          </a:p>
          <a:p>
            <a:pPr marL="0" indent="0">
              <a:buNone/>
            </a:pPr>
            <a:r>
              <a:rPr lang="en-US" dirty="0"/>
              <a:t>https://github.com/jMM-at-CODEGroup/MusicBot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Walkthrough</a:t>
            </a:r>
          </a:p>
        </p:txBody>
      </p:sp>
      <p:sp>
        <p:nvSpPr>
          <p:cNvPr id="3" name="Subtitle 2"/>
          <p:cNvSpPr>
            <a:spLocks noGrp="1"/>
          </p:cNvSpPr>
          <p:nvPr>
            <p:ph type="subTitle" idx="1"/>
          </p:nvPr>
        </p:nvSpPr>
        <p:spPr/>
        <p:txBody>
          <a:bodyPr wrap="square">
            <a:normAutofit/>
          </a:bodyPr>
          <a:lstStyle/>
          <a:p>
            <a:pPr>
              <a:buNone/>
            </a:pPr>
            <a:r>
              <a:rPr sz="2800" b="1" i="0" u="none"/>
              <a:t>An unfamiliar path becomes a first backlog item</a:t>
            </a:r>
            <a:endParaRPr sz="2800" b="0" i="0">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4100" b="0" i="0" u="none" dirty="0"/>
              <a:t>Step 1: Frame the Question</a:t>
            </a:r>
          </a:p>
        </p:txBody>
      </p:sp>
      <p:sp>
        <p:nvSpPr>
          <p:cNvPr id="3" name="Content Placeholder 2"/>
          <p:cNvSpPr>
            <a:spLocks noGrp="1"/>
          </p:cNvSpPr>
          <p:nvPr>
            <p:ph idx="1"/>
          </p:nvPr>
        </p:nvSpPr>
        <p:spPr>
          <a:xfrm>
            <a:off x="838200" y="1461483"/>
            <a:ext cx="10515600" cy="4351338"/>
          </a:xfrm>
        </p:spPr>
        <p:txBody>
          <a:bodyPr>
            <a:normAutofit/>
          </a:bodyPr>
          <a:lstStyle/>
          <a:p>
            <a:pPr lvl="0"/>
            <a:r>
              <a:rPr lang="en-US" dirty="0"/>
              <a:t>Using the Software-Archaeologist agent, submit this prompt:</a:t>
            </a:r>
          </a:p>
          <a:p>
            <a:r>
              <a:rPr lang="en-US" dirty="0">
                <a:latin typeface="Cascadia Code" panose="020B0609020000020004" pitchFamily="49" charset="0"/>
                <a:cs typeface="Cascadia Code" panose="020B0609020000020004" pitchFamily="49" charset="0"/>
              </a:rPr>
              <a:t>Investigate what could break if we change the </a:t>
            </a:r>
            <a:r>
              <a:rPr lang="en-US" dirty="0" err="1">
                <a:latin typeface="Cascadia Code" panose="020B0609020000020004" pitchFamily="49" charset="0"/>
                <a:cs typeface="Cascadia Code" panose="020B0609020000020004" pitchFamily="49" charset="0"/>
              </a:rPr>
              <a:t>MusicBot</a:t>
            </a:r>
            <a:r>
              <a:rPr lang="en-US" dirty="0">
                <a:latin typeface="Cascadia Code" panose="020B0609020000020004" pitchFamily="49" charset="0"/>
                <a:cs typeface="Cascadia Code" panose="020B0609020000020004" pitchFamily="49" charset="0"/>
              </a:rPr>
              <a:t> /play workflow. Start by validating the question, boundary, and stop condition. Put the response in the file docs/investigations/play-workflow.md. Do not inspect code yet.</a:t>
            </a:r>
          </a:p>
          <a:p>
            <a:pPr lvl="0"/>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9B935-96F5-AAB4-D16E-800E241EAA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D98F3-183C-C6F4-95A5-0437E94F7FC4}"/>
              </a:ext>
            </a:extLst>
          </p:cNvPr>
          <p:cNvSpPr>
            <a:spLocks noGrp="1"/>
          </p:cNvSpPr>
          <p:nvPr>
            <p:ph type="title"/>
          </p:nvPr>
        </p:nvSpPr>
        <p:spPr>
          <a:xfrm>
            <a:off x="838200" y="365126"/>
            <a:ext cx="8928887" cy="703024"/>
          </a:xfrm>
        </p:spPr>
        <p:txBody>
          <a:bodyPr anchor="ctr">
            <a:normAutofit/>
          </a:bodyPr>
          <a:lstStyle/>
          <a:p>
            <a:pPr>
              <a:buNone/>
            </a:pPr>
            <a:r>
              <a:rPr lang="en-US" sz="4100" b="0" i="0" u="none" dirty="0"/>
              <a:t>Step </a:t>
            </a:r>
            <a:r>
              <a:rPr lang="en-US" sz="4100" b="0" dirty="0"/>
              <a:t>2</a:t>
            </a:r>
            <a:r>
              <a:rPr lang="en-US" sz="4100" b="0" i="0" u="none" dirty="0"/>
              <a:t>: Locate the Source Boundary</a:t>
            </a:r>
          </a:p>
        </p:txBody>
      </p:sp>
      <p:sp>
        <p:nvSpPr>
          <p:cNvPr id="3" name="Content Placeholder 2">
            <a:extLst>
              <a:ext uri="{FF2B5EF4-FFF2-40B4-BE49-F238E27FC236}">
                <a16:creationId xmlns:a16="http://schemas.microsoft.com/office/drawing/2014/main" id="{F50C4EA4-662E-5CE0-E49C-16FE4B161AD2}"/>
              </a:ext>
            </a:extLst>
          </p:cNvPr>
          <p:cNvSpPr>
            <a:spLocks noGrp="1"/>
          </p:cNvSpPr>
          <p:nvPr>
            <p:ph idx="1"/>
          </p:nvPr>
        </p:nvSpPr>
        <p:spPr>
          <a:xfrm>
            <a:off x="838200" y="1461483"/>
            <a:ext cx="10515600" cy="4351338"/>
          </a:xfrm>
        </p:spPr>
        <p:txBody>
          <a:bodyPr>
            <a:normAutofit/>
          </a:bodyPr>
          <a:lstStyle/>
          <a:p>
            <a:pPr lvl="0"/>
            <a:r>
              <a:rPr lang="en-US" dirty="0"/>
              <a:t>Using the Software-Archaeologist agent, submit this prompt:</a:t>
            </a:r>
          </a:p>
          <a:p>
            <a:pPr lvl="0"/>
            <a:endParaRPr lang="en-US" dirty="0"/>
          </a:p>
          <a:p>
            <a:pPr marL="0" indent="0">
              <a:buNone/>
            </a:pPr>
            <a:r>
              <a:rPr lang="en-US" dirty="0">
                <a:latin typeface="Cascadia Code" panose="020B0609020000020004" pitchFamily="49" charset="0"/>
                <a:cs typeface="Cascadia Code" panose="020B0609020000020004" pitchFamily="49" charset="0"/>
              </a:rPr>
              <a:t>@locate-source-boundary</a:t>
            </a:r>
          </a:p>
          <a:p>
            <a:pPr marL="0" indent="0">
              <a:buNone/>
            </a:pPr>
            <a:r>
              <a:rPr lang="en-US" dirty="0">
                <a:latin typeface="Cascadia Code" panose="020B0609020000020004" pitchFamily="49" charset="0"/>
                <a:cs typeface="Cascadia Code" panose="020B0609020000020004" pitchFamily="49" charset="0"/>
              </a:rPr>
              <a:t>Use the Investigation Framing in docs/investigations/play-workflow.md</a:t>
            </a:r>
            <a:endParaRPr lang="en-US" dirty="0"/>
          </a:p>
        </p:txBody>
      </p:sp>
    </p:spTree>
    <p:extLst>
      <p:ext uri="{BB962C8B-B14F-4D97-AF65-F5344CB8AC3E}">
        <p14:creationId xmlns:p14="http://schemas.microsoft.com/office/powerpoint/2010/main" val="337603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3400" b="0" i="0" u="none" dirty="0"/>
              <a:t>Step 3: Build the First Evidence Map</a:t>
            </a:r>
          </a:p>
        </p:txBody>
      </p:sp>
      <p:sp>
        <p:nvSpPr>
          <p:cNvPr id="3" name="Content Placeholder 2"/>
          <p:cNvSpPr>
            <a:spLocks noGrp="1"/>
          </p:cNvSpPr>
          <p:nvPr>
            <p:ph idx="1"/>
          </p:nvPr>
        </p:nvSpPr>
        <p:spPr>
          <a:xfrm>
            <a:off x="838200" y="1461483"/>
            <a:ext cx="10515600" cy="4351338"/>
          </a:xfrm>
        </p:spPr>
        <p:txBody>
          <a:bodyPr>
            <a:normAutofit fontScale="70000" lnSpcReduction="20000"/>
          </a:bodyPr>
          <a:lstStyle/>
          <a:p>
            <a:pPr>
              <a:buNone/>
            </a:pPr>
            <a:r>
              <a:rPr lang="en-US" b="0" i="0" u="none" dirty="0"/>
              <a:t>1. Locate the entry point and its immediate handler</a:t>
            </a:r>
            <a:endParaRPr lang="en-US" b="0" i="0" dirty="0"/>
          </a:p>
          <a:p>
            <a:pPr>
              <a:buNone/>
            </a:pPr>
            <a:r>
              <a:rPr lang="en-US" b="0" i="0" u="none" dirty="0"/>
              <a:t>2. Identify related tests, configuration, and domain terms</a:t>
            </a:r>
            <a:endParaRPr lang="en-US" b="0" i="0" dirty="0"/>
          </a:p>
          <a:p>
            <a:pPr>
              <a:buNone/>
            </a:pPr>
            <a:r>
              <a:rPr lang="en-US" b="0" i="0" u="none" dirty="0"/>
              <a:t>3. Ask AI for cited facts, hypotheses, unknowns, and next files</a:t>
            </a:r>
            <a:endParaRPr lang="en-US" b="0" i="0" dirty="0"/>
          </a:p>
          <a:p>
            <a:pPr>
              <a:buNone/>
            </a:pPr>
            <a:r>
              <a:rPr lang="en-US" b="0" i="0" u="none" dirty="0"/>
              <a:t>4. Verify the highest-impact claims in the actual source</a:t>
            </a:r>
            <a:endParaRPr lang="en-US" b="0" i="0" dirty="0"/>
          </a:p>
          <a:p>
            <a:pPr>
              <a:buNone/>
            </a:pPr>
            <a:endParaRPr lang="en-US" b="0" i="0" dirty="0"/>
          </a:p>
          <a:p>
            <a:pPr>
              <a:buNone/>
            </a:pPr>
            <a:r>
              <a:rPr lang="en-US" b="1" i="0" u="none" dirty="0"/>
              <a:t>Run in the Software Archeologist agent:</a:t>
            </a:r>
          </a:p>
          <a:p>
            <a:pPr>
              <a:buNone/>
            </a:pPr>
            <a:r>
              <a:rPr lang="en-US" dirty="0">
                <a:latin typeface="Cascadia Code" panose="020B0609020000020004" pitchFamily="49" charset="0"/>
                <a:cs typeface="Cascadia Code" panose="020B0609020000020004" pitchFamily="49" charset="0"/>
              </a:rPr>
              <a:t>@excavate</a:t>
            </a:r>
          </a:p>
          <a:p>
            <a:pPr>
              <a:buNone/>
            </a:pPr>
            <a:r>
              <a:rPr lang="en-US" dirty="0">
                <a:latin typeface="Cascadia Code" panose="020B0609020000020004" pitchFamily="49" charset="0"/>
                <a:cs typeface="Cascadia Code" panose="020B0609020000020004" pitchFamily="49" charset="0"/>
              </a:rPr>
              <a:t>Use docs/investigations/source-boundary.md to investigate the </a:t>
            </a:r>
            <a:r>
              <a:rPr lang="en-US" dirty="0" err="1">
                <a:latin typeface="Cascadia Code" panose="020B0609020000020004" pitchFamily="49" charset="0"/>
                <a:cs typeface="Cascadia Code" panose="020B0609020000020004" pitchFamily="49" charset="0"/>
              </a:rPr>
              <a:t>MusicBot</a:t>
            </a:r>
            <a:r>
              <a:rPr lang="en-US" dirty="0">
                <a:latin typeface="Cascadia Code" panose="020B0609020000020004" pitchFamily="49" charset="0"/>
                <a:cs typeface="Cascadia Code" panose="020B0609020000020004" pitchFamily="49" charset="0"/>
              </a:rPr>
              <a:t> `/play`</a:t>
            </a:r>
          </a:p>
          <a:p>
            <a:pPr>
              <a:buNone/>
            </a:pPr>
            <a:r>
              <a:rPr lang="en-US" dirty="0">
                <a:latin typeface="Cascadia Code" panose="020B0609020000020004" pitchFamily="49" charset="0"/>
                <a:cs typeface="Cascadia Code" panose="020B0609020000020004" pitchFamily="49" charset="0"/>
              </a:rPr>
              <a:t>workflow. Put the evidence map in docs/investigations/play-evidence-map.md.</a:t>
            </a:r>
          </a:p>
          <a:p>
            <a:pPr>
              <a:buNone/>
            </a:pPr>
            <a:r>
              <a:rPr lang="en-US" dirty="0">
                <a:latin typeface="Cascadia Code" panose="020B0609020000020004" pitchFamily="49" charset="0"/>
                <a:cs typeface="Cascadia Code" panose="020B0609020000020004" pitchFamily="49" charset="0"/>
              </a:rPr>
              <a:t>Do not propose or make code changes.</a:t>
            </a:r>
            <a:endParaRPr lang="en-US" b="0" i="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3100" b="0" i="0" u="none" dirty="0"/>
              <a:t>Step 4: Trace Effects and Contradictions</a:t>
            </a:r>
          </a:p>
        </p:txBody>
      </p:sp>
      <p:sp>
        <p:nvSpPr>
          <p:cNvPr id="3" name="Content Placeholder 2"/>
          <p:cNvSpPr>
            <a:spLocks noGrp="1"/>
          </p:cNvSpPr>
          <p:nvPr>
            <p:ph idx="1"/>
          </p:nvPr>
        </p:nvSpPr>
        <p:spPr>
          <a:xfrm>
            <a:off x="838200" y="1461483"/>
            <a:ext cx="10515600" cy="4351338"/>
          </a:xfrm>
        </p:spPr>
        <p:txBody>
          <a:bodyPr>
            <a:normAutofit/>
          </a:bodyPr>
          <a:lstStyle/>
          <a:p>
            <a:pPr>
              <a:lnSpc>
                <a:spcPct val="90000"/>
              </a:lnSpc>
            </a:pPr>
            <a:r>
              <a:rPr lang="en-US" sz="2000" b="0" i="0" u="none" dirty="0"/>
              <a:t>Follow success, failure, retry, and cancellation branches</a:t>
            </a:r>
            <a:endParaRPr lang="en-US" sz="2000" b="0" i="0" dirty="0"/>
          </a:p>
          <a:p>
            <a:pPr>
              <a:lnSpc>
                <a:spcPct val="90000"/>
              </a:lnSpc>
            </a:pPr>
            <a:r>
              <a:rPr lang="en-US" sz="2000" b="0" i="0" u="none" dirty="0"/>
              <a:t>Identify data writes, emitted events, and external calls</a:t>
            </a:r>
            <a:endParaRPr lang="en-US" sz="2000" b="0" i="0" dirty="0"/>
          </a:p>
          <a:p>
            <a:pPr>
              <a:lnSpc>
                <a:spcPct val="90000"/>
              </a:lnSpc>
            </a:pPr>
            <a:r>
              <a:rPr lang="en-US" sz="2000" b="0" i="0" u="none" dirty="0"/>
              <a:t>Compare implementation paths with tests and configuration</a:t>
            </a:r>
            <a:endParaRPr lang="en-US" sz="2000" b="0" i="0" dirty="0"/>
          </a:p>
          <a:p>
            <a:pPr>
              <a:lnSpc>
                <a:spcPct val="90000"/>
              </a:lnSpc>
            </a:pPr>
            <a:r>
              <a:rPr lang="en-US" sz="2000" b="0" i="0" u="none" dirty="0"/>
              <a:t>Record contradictions rather than forcing a single story</a:t>
            </a:r>
            <a:endParaRPr lang="en-US" sz="2000" b="0" i="0" dirty="0"/>
          </a:p>
          <a:p>
            <a:pPr>
              <a:lnSpc>
                <a:spcPct val="90000"/>
              </a:lnSpc>
              <a:buNone/>
            </a:pPr>
            <a:endParaRPr lang="en-US" sz="2000" b="0" i="0" dirty="0"/>
          </a:p>
          <a:p>
            <a:pPr>
              <a:lnSpc>
                <a:spcPct val="90000"/>
              </a:lnSpc>
              <a:buNone/>
            </a:pPr>
            <a:r>
              <a:rPr lang="en-US" sz="2000" b="1" i="0" u="none" dirty="0"/>
              <a:t>Run in the Software Archeologist agent:</a:t>
            </a:r>
            <a:endParaRPr lang="en-US" sz="2000" b="0" i="0" dirty="0"/>
          </a:p>
          <a:p>
            <a:pPr>
              <a:lnSpc>
                <a:spcPct val="90000"/>
              </a:lnSpc>
              <a:buNone/>
            </a:pPr>
            <a:r>
              <a:rPr lang="en-US" sz="2000" dirty="0">
                <a:latin typeface="Cascadia Code" panose="020B0609020000020004" pitchFamily="49" charset="0"/>
                <a:cs typeface="Cascadia Code" panose="020B0609020000020004" pitchFamily="49" charset="0"/>
              </a:rPr>
              <a:t>@corroborate</a:t>
            </a:r>
          </a:p>
          <a:p>
            <a:pPr>
              <a:lnSpc>
                <a:spcPct val="90000"/>
              </a:lnSpc>
              <a:buNone/>
            </a:pPr>
            <a:r>
              <a:rPr lang="en-US" sz="2000" dirty="0">
                <a:latin typeface="Cascadia Code" panose="020B0609020000020004" pitchFamily="49" charset="0"/>
                <a:cs typeface="Cascadia Code" panose="020B0609020000020004" pitchFamily="49" charset="0"/>
              </a:rPr>
              <a:t>Use docs/investigations/play-evidence-map.md.</a:t>
            </a:r>
          </a:p>
          <a:p>
            <a:pPr>
              <a:lnSpc>
                <a:spcPct val="90000"/>
              </a:lnSpc>
              <a:buNone/>
            </a:pPr>
            <a:r>
              <a:rPr lang="en-US" sz="2000" dirty="0">
                <a:latin typeface="Cascadia Code" panose="020B0609020000020004" pitchFamily="49" charset="0"/>
                <a:cs typeface="Cascadia Code" panose="020B0609020000020004" pitchFamily="49" charset="0"/>
              </a:rPr>
              <a:t>Put the corroboration record in docs/investigations/play-corroboration.md.</a:t>
            </a:r>
          </a:p>
          <a:p>
            <a:pPr>
              <a:lnSpc>
                <a:spcPct val="90000"/>
              </a:lnSpc>
              <a:buNone/>
            </a:pPr>
            <a:r>
              <a:rPr lang="en-US" sz="2000" dirty="0">
                <a:latin typeface="Cascadia Code" panose="020B0609020000020004" pitchFamily="49" charset="0"/>
                <a:cs typeface="Cascadia Code" panose="020B0609020000020004" pitchFamily="49" charset="0"/>
              </a:rPr>
              <a:t>Do not propose or make code changes.</a:t>
            </a:r>
            <a:endParaRPr lang="en-US" sz="2000" b="0" i="0" dirty="0">
              <a:latin typeface="Cascadia Code" panose="020B0609020000020004" pitchFamily="49" charset="0"/>
              <a:cs typeface="Cascadia Code" panose="020B06090200000200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3100" b="0" i="0" u="none" dirty="0"/>
              <a:t>Step 5: Produce the First Backlog Item</a:t>
            </a:r>
          </a:p>
        </p:txBody>
      </p:sp>
      <p:sp>
        <p:nvSpPr>
          <p:cNvPr id="3" name="Content Placeholder 2"/>
          <p:cNvSpPr>
            <a:spLocks noGrp="1"/>
          </p:cNvSpPr>
          <p:nvPr>
            <p:ph idx="1"/>
          </p:nvPr>
        </p:nvSpPr>
        <p:spPr>
          <a:xfrm>
            <a:off x="838200" y="1461483"/>
            <a:ext cx="10515600" cy="4351338"/>
          </a:xfrm>
        </p:spPr>
        <p:txBody>
          <a:bodyPr>
            <a:normAutofit/>
          </a:bodyPr>
          <a:lstStyle/>
          <a:p>
            <a:pPr>
              <a:lnSpc>
                <a:spcPct val="90000"/>
              </a:lnSpc>
              <a:buNone/>
            </a:pPr>
            <a:r>
              <a:rPr lang="en-US" sz="1500" b="1" i="0" u="none" dirty="0"/>
              <a:t>Run in the Software Archeologist agent:</a:t>
            </a:r>
            <a:endParaRPr lang="en-US" sz="1500" b="0" i="0" dirty="0"/>
          </a:p>
          <a:p>
            <a:pPr>
              <a:lnSpc>
                <a:spcPct val="90000"/>
              </a:lnSpc>
              <a:buNone/>
            </a:pPr>
            <a:r>
              <a:rPr lang="en-US" sz="1500" dirty="0">
                <a:latin typeface="Cascadia Code" panose="020B0609020000020004" pitchFamily="49" charset="0"/>
                <a:cs typeface="Cascadia Code" panose="020B0609020000020004" pitchFamily="49" charset="0"/>
              </a:rPr>
              <a:t>@shape-backlog</a:t>
            </a:r>
          </a:p>
          <a:p>
            <a:pPr>
              <a:lnSpc>
                <a:spcPct val="90000"/>
              </a:lnSpc>
              <a:buNone/>
            </a:pPr>
            <a:r>
              <a:rPr lang="en-US" sz="1500" dirty="0">
                <a:latin typeface="Cascadia Code" panose="020B0609020000020004" pitchFamily="49" charset="0"/>
                <a:cs typeface="Cascadia Code" panose="020B0609020000020004" pitchFamily="49" charset="0"/>
              </a:rPr>
              <a:t>Use docs/investigations/play-evidence-map.md and docs/investigations/play-corroboration.md.</a:t>
            </a:r>
          </a:p>
          <a:p>
            <a:pPr>
              <a:lnSpc>
                <a:spcPct val="90000"/>
              </a:lnSpc>
              <a:buNone/>
            </a:pPr>
            <a:r>
              <a:rPr lang="en-US" sz="1500" dirty="0">
                <a:latin typeface="Cascadia Code" panose="020B0609020000020004" pitchFamily="49" charset="0"/>
                <a:cs typeface="Cascadia Code" panose="020B0609020000020004" pitchFamily="49" charset="0"/>
              </a:rPr>
              <a:t>Put the prioritized backlog in docs/investigations/play-backlog.md.</a:t>
            </a:r>
          </a:p>
          <a:p>
            <a:pPr>
              <a:lnSpc>
                <a:spcPct val="90000"/>
              </a:lnSpc>
              <a:buNone/>
            </a:pPr>
            <a:r>
              <a:rPr lang="en-US" sz="1500" dirty="0">
                <a:latin typeface="Cascadia Code" panose="020B0609020000020004" pitchFamily="49" charset="0"/>
                <a:cs typeface="Cascadia Code" panose="020B0609020000020004" pitchFamily="49" charset="0"/>
              </a:rPr>
              <a:t>Do not implement changes.</a:t>
            </a:r>
            <a:endParaRPr lang="en-US" sz="1500" b="0" i="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Take This Back to Your Team</a:t>
            </a:r>
          </a:p>
        </p:txBody>
      </p:sp>
      <p:sp>
        <p:nvSpPr>
          <p:cNvPr id="3" name="Content Placeholder 2"/>
          <p:cNvSpPr>
            <a:spLocks noGrp="1"/>
          </p:cNvSpPr>
          <p:nvPr>
            <p:ph idx="1"/>
          </p:nvPr>
        </p:nvSpPr>
        <p:spPr>
          <a:xfrm>
            <a:off x="838200" y="1461483"/>
            <a:ext cx="10515600" cy="4351338"/>
          </a:xfrm>
        </p:spPr>
        <p:txBody>
          <a:bodyPr>
            <a:normAutofit/>
          </a:bodyPr>
          <a:lstStyle/>
          <a:p>
            <a:pPr>
              <a:buNone/>
            </a:pPr>
            <a:r>
              <a:rPr lang="en-US" b="0" i="0" u="none"/>
              <a:t>1. Pick one upcoming change with uncomfortable uncertainty</a:t>
            </a:r>
            <a:endParaRPr lang="en-US" b="0" i="0"/>
          </a:p>
          <a:p>
            <a:pPr>
              <a:buNone/>
            </a:pPr>
            <a:r>
              <a:rPr lang="en-US" b="0" i="0" u="none"/>
              <a:t>2. Frame a question, boundary, and stopping condition</a:t>
            </a:r>
            <a:endParaRPr lang="en-US" b="0" i="0"/>
          </a:p>
          <a:p>
            <a:pPr>
              <a:buNone/>
            </a:pPr>
            <a:r>
              <a:rPr lang="en-US" b="0" i="0" u="none"/>
              <a:t>3. Use AI to create a cited evidence map</a:t>
            </a:r>
            <a:endParaRPr lang="en-US" b="0" i="0"/>
          </a:p>
          <a:p>
            <a:pPr>
              <a:buNone/>
            </a:pPr>
            <a:r>
              <a:rPr lang="en-US" b="0" i="0" u="none"/>
              <a:t>4. Verify the claims that could change the decision</a:t>
            </a:r>
            <a:endParaRPr lang="en-US" b="0" i="0"/>
          </a:p>
          <a:p>
            <a:pPr>
              <a:buNone/>
            </a:pPr>
            <a:r>
              <a:rPr lang="en-US" b="0" i="0" u="none"/>
              <a:t>5. Turn the result into one small, safe backlog item</a:t>
            </a:r>
            <a:endParaRPr lang="en-US" b="0" i="0"/>
          </a:p>
          <a:p>
            <a:pPr>
              <a:buNone/>
            </a:pPr>
            <a:endParaRPr lang="en-US" b="0" i="0"/>
          </a:p>
          <a:p>
            <a:pPr>
              <a:buNone/>
            </a:pPr>
            <a:r>
              <a:rPr lang="en-US" b="1" i="0" u="none"/>
              <a:t>The goal is not perfect knowledge. It is the next justified move.</a:t>
            </a:r>
            <a:endParaRPr lang="en-US" b="0" i="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Discussion and Q&amp;A</a:t>
            </a:r>
          </a:p>
        </p:txBody>
      </p:sp>
      <p:sp>
        <p:nvSpPr>
          <p:cNvPr id="3" name="Content Placeholder 2"/>
          <p:cNvSpPr>
            <a:spLocks noGrp="1"/>
          </p:cNvSpPr>
          <p:nvPr>
            <p:ph idx="1"/>
          </p:nvPr>
        </p:nvSpPr>
        <p:spPr>
          <a:xfrm>
            <a:off x="838200" y="1461483"/>
            <a:ext cx="10515600" cy="4351338"/>
          </a:xfrm>
        </p:spPr>
        <p:txBody>
          <a:bodyPr>
            <a:normAutofit/>
          </a:bodyPr>
          <a:lstStyle/>
          <a:p>
            <a:r>
              <a:rPr lang="en-US" b="0" i="0" u="none"/>
              <a:t>Where does your team lose the most system knowledge?</a:t>
            </a:r>
            <a:endParaRPr lang="en-US" b="0" i="0"/>
          </a:p>
          <a:p>
            <a:r>
              <a:rPr lang="en-US" b="0" i="0" u="none"/>
              <a:t>Which source of evidence is hardest to access or trust?</a:t>
            </a:r>
            <a:endParaRPr lang="en-US" b="0" i="0"/>
          </a:p>
          <a:p>
            <a:r>
              <a:rPr lang="en-US" b="0" i="0" u="none"/>
              <a:t>What would make an AI-assisted archaeology workflow safe in your environment?</a:t>
            </a:r>
            <a:endParaRPr lang="en-US" b="0" i="0"/>
          </a:p>
          <a:p>
            <a:r>
              <a:rPr lang="en-US" b="0" i="0" u="none"/>
              <a:t>Which modernization candidate could be reframed as a learning step first?</a:t>
            </a:r>
            <a:endParaRPr lang="en-US" b="0" i="0"/>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1388</TotalTime>
  <Words>3856</Words>
  <Application>Microsoft Office PowerPoint</Application>
  <PresentationFormat>Widescreen</PresentationFormat>
  <Paragraphs>585</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Cascadia Code</vt:lpstr>
      <vt:lpstr>Consolas</vt:lpstr>
      <vt:lpstr>Noto Sans</vt:lpstr>
      <vt:lpstr>Victor Mono</vt:lpstr>
      <vt:lpstr>CODE Training</vt:lpstr>
      <vt:lpstr>Software Archaeology</vt:lpstr>
      <vt:lpstr>PowerPoint Presentation</vt:lpstr>
      <vt:lpstr>John Michael Miller</vt:lpstr>
      <vt:lpstr>Agenda</vt:lpstr>
      <vt:lpstr>What Is Software Archaeology?</vt:lpstr>
      <vt:lpstr>The Job Is Not "Read All the Code"</vt:lpstr>
      <vt:lpstr>Why This Matters Now</vt:lpstr>
      <vt:lpstr>Meet the Software Archeologist</vt:lpstr>
      <vt:lpstr>The Archaeologist's Posture</vt:lpstr>
      <vt:lpstr>Review the Software Archaeologist Agent</vt:lpstr>
      <vt:lpstr>The Archaeology Loop</vt:lpstr>
      <vt:lpstr>Pass 1: Orient the Investigation</vt:lpstr>
      <vt:lpstr>Pass 2: Trace Behavior End to End</vt:lpstr>
      <vt:lpstr>Pass 3: Map Dependencies and Data</vt:lpstr>
      <vt:lpstr>Pass 4: Recover History and Operations</vt:lpstr>
      <vt:lpstr>Let AI Do the Expensive First Pass</vt:lpstr>
      <vt:lpstr>Keep an Evidence Ledger</vt:lpstr>
      <vt:lpstr>Detecting Attractive but Wrong Answers</vt:lpstr>
      <vt:lpstr>From Findings to Risk Statements</vt:lpstr>
      <vt:lpstr>Shape Modernization Candidates</vt:lpstr>
      <vt:lpstr>Prioritize the Backlog With Evidence</vt:lpstr>
      <vt:lpstr>Archaeology Does Not End at the Backlog</vt:lpstr>
      <vt:lpstr>Meet MusicBot</vt:lpstr>
      <vt:lpstr>Walkthrough</vt:lpstr>
      <vt:lpstr>Step 1: Frame the Question</vt:lpstr>
      <vt:lpstr>Step 2: Locate the Source Boundary</vt:lpstr>
      <vt:lpstr>Step 3: Build the First Evidence Map</vt:lpstr>
      <vt:lpstr>Step 4: Trace Effects and Contradictions</vt:lpstr>
      <vt:lpstr>Step 5: Produce the First Backlog Item</vt:lpstr>
      <vt:lpstr>Take This Back to Your Team</vt:lpstr>
      <vt:lpstr>Discussion and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11</cp:revision>
  <dcterms:created xsi:type="dcterms:W3CDTF">2025-10-19T18:09:53Z</dcterms:created>
  <dcterms:modified xsi:type="dcterms:W3CDTF">2026-09-25T02:00:25Z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